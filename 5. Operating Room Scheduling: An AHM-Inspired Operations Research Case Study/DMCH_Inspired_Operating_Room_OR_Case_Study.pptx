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bn-B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4125" autoAdjust="0"/>
  </p:normalViewPr>
  <p:slideViewPr>
    <p:cSldViewPr snapToGrid="0">
      <p:cViewPr varScale="1">
        <p:scale>
          <a:sx n="51" d="100"/>
          <a:sy n="51" d="100"/>
        </p:scale>
        <p:origin x="147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Fixed blocks</c:v>
          </c:tx>
          <c:spPr>
            <a:solidFill>
              <a:srgbClr val="7595A5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25">
                    <a:solidFill>
                      <a:srgbClr val="172C3D"/>
                    </a:solidFill>
                    <a:latin typeface="DejaVu Sans"/>
                    <a:ea typeface="DejaVu Sans"/>
                    <a:cs typeface="DejaVu Sans"/>
                  </a:defRPr>
                </a:pPr>
                <a:endParaRPr lang="bn-BD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Data'!$A$2:$A$7</c:f>
              <c:strCache>
                <c:ptCount val="6"/>
                <c:pt idx="0">
                  <c:v>General</c:v>
                </c:pt>
                <c:pt idx="1">
                  <c:v>Orthopedics</c:v>
                </c:pt>
                <c:pt idx="2">
                  <c:v>Ob/Gyn</c:v>
                </c:pt>
                <c:pt idx="3">
                  <c:v>Urology</c:v>
                </c:pt>
                <c:pt idx="4">
                  <c:v>ENT</c:v>
                </c:pt>
                <c:pt idx="5">
                  <c:v>Neurosurgery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15</c:v>
                </c:pt>
                <c:pt idx="1">
                  <c:v>11</c:v>
                </c:pt>
                <c:pt idx="2">
                  <c:v>14</c:v>
                </c:pt>
                <c:pt idx="3">
                  <c:v>12</c:v>
                </c:pt>
                <c:pt idx="4">
                  <c:v>6</c:v>
                </c:pt>
                <c:pt idx="5">
                  <c:v>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4128-4B34-B06F-27BBC32F7987}"/>
            </c:ext>
          </c:extLst>
        </c:ser>
        <c:ser>
          <c:idx val="1"/>
          <c:order val="1"/>
          <c:tx>
            <c:v>Flexible blocks</c:v>
          </c:tx>
          <c:spPr>
            <a:solidFill>
              <a:srgbClr val="007F86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25">
                    <a:solidFill>
                      <a:srgbClr val="172C3D"/>
                    </a:solidFill>
                    <a:latin typeface="DejaVu Sans"/>
                    <a:ea typeface="DejaVu Sans"/>
                    <a:cs typeface="DejaVu Sans"/>
                  </a:defRPr>
                </a:pPr>
                <a:endParaRPr lang="bn-BD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Data'!$C$2:$C$7</c:f>
              <c:strCache>
                <c:ptCount val="6"/>
                <c:pt idx="0">
                  <c:v>General</c:v>
                </c:pt>
                <c:pt idx="1">
                  <c:v>Orthopedics</c:v>
                </c:pt>
                <c:pt idx="2">
                  <c:v>Ob/Gyn</c:v>
                </c:pt>
                <c:pt idx="3">
                  <c:v>Urology</c:v>
                </c:pt>
                <c:pt idx="4">
                  <c:v>ENT</c:v>
                </c:pt>
                <c:pt idx="5">
                  <c:v>Neurosurgery</c:v>
                </c:pt>
              </c:strCache>
            </c:strRef>
          </c:cat>
          <c:val>
            <c:numRef>
              <c:f>'Chart Data'!$D$2:$D$7</c:f>
              <c:numCache>
                <c:formatCode>General</c:formatCode>
                <c:ptCount val="6"/>
                <c:pt idx="0">
                  <c:v>16</c:v>
                </c:pt>
                <c:pt idx="1">
                  <c:v>7</c:v>
                </c:pt>
                <c:pt idx="2">
                  <c:v>12</c:v>
                </c:pt>
                <c:pt idx="3">
                  <c:v>11</c:v>
                </c:pt>
                <c:pt idx="4">
                  <c:v>12</c:v>
                </c:pt>
                <c:pt idx="5">
                  <c:v>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4128-4B34-B06F-27BBC32F798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7620">
              <a:solidFill>
                <a:srgbClr val="CAD8DC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526777"/>
                </a:solidFill>
                <a:latin typeface="DejaVu Sans"/>
                <a:ea typeface="DejaVu Sans"/>
                <a:cs typeface="DejaVu Sans"/>
              </a:defRPr>
            </a:pPr>
            <a:endParaRPr lang="bn-BD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00">
                <a:solidFill>
                  <a:srgbClr val="172C3D"/>
                </a:solidFill>
                <a:latin typeface="DejaVu Sans"/>
                <a:ea typeface="DejaVu Sans"/>
                <a:cs typeface="DejaVu Sans"/>
              </a:defRPr>
            </a:pPr>
            <a:endParaRPr lang="bn-BD"/>
          </a:p>
        </c:txPr>
        <c:crossAx val="48650112"/>
        <c:crosses val="autoZero"/>
        <c:crossBetween val="between"/>
      </c:valAx>
    </c:plotArea>
    <c:legend>
      <c:legendPos val="b"/>
      <c:overlay val="0"/>
      <c:txPr>
        <a:bodyPr anchorCtr="1"/>
        <a:lstStyle/>
        <a:p>
          <a:pPr>
            <a:defRPr sz="1125">
              <a:solidFill>
                <a:srgbClr val="172C3D"/>
              </a:solidFill>
              <a:latin typeface="DejaVu Sans"/>
              <a:ea typeface="DejaVu Sans"/>
              <a:cs typeface="DejaVu Sans"/>
            </a:defRPr>
          </a:pPr>
          <a:endParaRPr lang="bn-BD"/>
        </a:p>
      </c:txPr>
    </c:legend>
    <c:plotVisOnly val="1"/>
    <c:dispBlanksAs val="zero"/>
    <c:showDLblsOverMax val="1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8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112CFF5-4C8F-4C67-83DB-9BFAE220E700}"/>
              </a:ext>
            </a:extLst>
          </p:cNvPr>
          <p:cNvSpPr>
            <a:spLocks noGrp="1"/>
          </p:cNvSpPr>
          <p:nvPr/>
        </p:nvSpPr>
        <p:spPr>
          <a:xfrm>
            <a:off x="704850" y="1562100"/>
            <a:ext cx="10668000" cy="723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OPERATING ROOM SCHEDULING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48188C8-FE21-45DE-A172-BC81AD0112B3}"/>
              </a:ext>
            </a:extLst>
          </p:cNvPr>
          <p:cNvSpPr>
            <a:spLocks noGrp="1"/>
          </p:cNvSpPr>
          <p:nvPr/>
        </p:nvSpPr>
        <p:spPr>
          <a:xfrm>
            <a:off x="742950" y="2457450"/>
            <a:ext cx="10334625" cy="819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75" b="0">
                <a:solidFill>
                  <a:srgbClr val="B9D8D9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B9D8D9"/>
                </a:solidFill>
                <a:latin typeface="DejaVu Sans"/>
                <a:ea typeface="DejaVu Sans"/>
                <a:cs typeface="DejaVu Sans"/>
              </a:rPr>
              <a:t>A Dhaka Medical College Hospital-inspired operations research case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50E0B4-01D8-476B-B7EA-3FF2870281CD}"/>
              </a:ext>
            </a:extLst>
          </p:cNvPr>
          <p:cNvSpPr>
            <a:spLocks noGrp="1"/>
          </p:cNvSpPr>
          <p:nvPr/>
        </p:nvSpPr>
        <p:spPr>
          <a:xfrm>
            <a:off x="742950" y="3867150"/>
            <a:ext cx="1019175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Mixed-integer scheduling, duration-risk simulation and emergency capacity</a:t>
            </a:r>
          </a:p>
        </p:txBody>
      </p:sp>
    </p:spTree>
    <p:extLst>
      <p:ext uri="{BB962C8B-B14F-4D97-AF65-F5344CB8AC3E}">
        <p14:creationId xmlns:p14="http://schemas.microsoft.com/office/powerpoint/2010/main" val="7443324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FB16D2B-69DF-4085-A8F1-8144D16E5433}"/>
              </a:ext>
            </a:extLst>
          </p:cNvPr>
          <p:cNvSpPr>
            <a:spLocks noGrp="1"/>
          </p:cNvSpPr>
          <p:nvPr/>
        </p:nvSpPr>
        <p:spPr>
          <a:xfrm>
            <a:off x="628650" y="342900"/>
            <a:ext cx="1085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700" b="1">
                <a:solidFill>
                  <a:srgbClr val="10283A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0283A"/>
                </a:solidFill>
                <a:latin typeface="DejaVu Sans"/>
                <a:ea typeface="DejaVu Sans"/>
                <a:cs typeface="DejaVu Sans"/>
              </a:rPr>
              <a:t>The decision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09CD8EF-37E4-4069-8313-A55DB08C4E2A}"/>
              </a:ext>
            </a:extLst>
          </p:cNvPr>
          <p:cNvSpPr>
            <a:spLocks noGrp="1"/>
          </p:cNvSpPr>
          <p:nvPr/>
        </p:nvSpPr>
        <p:spPr>
          <a:xfrm>
            <a:off x="657225" y="1038225"/>
            <a:ext cx="10620375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75" b="0">
                <a:solidFill>
                  <a:srgbClr val="5267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26777"/>
                </a:solidFill>
                <a:latin typeface="DejaVu Sans"/>
                <a:ea typeface="DejaVu Sans"/>
                <a:cs typeface="DejaVu Sans"/>
              </a:rPr>
              <a:t>One five-day pilot schedule; two policies under the same resource limits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62A311-F04B-4353-9E03-BEA542A1597F}"/>
              </a:ext>
            </a:extLst>
          </p:cNvPr>
          <p:cNvSpPr>
            <a:spLocks noGrp="1"/>
          </p:cNvSpPr>
          <p:nvPr/>
        </p:nvSpPr>
        <p:spPr>
          <a:xfrm>
            <a:off x="742950" y="1685925"/>
            <a:ext cx="10668000" cy="971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0">
                <a:solidFill>
                  <a:srgbClr val="172C3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2C3D"/>
                </a:solidFill>
                <a:latin typeface="DejaVu Sans"/>
                <a:ea typeface="DejaVu Sans"/>
                <a:cs typeface="DejaVu Sans"/>
              </a:rPr>
              <a:t>Select elective cases from a 90-case ready queue and assign each to a weekday and a compatible operating room.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95C397-57E1-42E8-8C44-E7887EE4E37B}"/>
              </a:ext>
            </a:extLst>
          </p:cNvPr>
          <p:cNvSpPr>
            <a:spLocks noGrp="1"/>
          </p:cNvSpPr>
          <p:nvPr/>
        </p:nvSpPr>
        <p:spPr>
          <a:xfrm>
            <a:off x="742950" y="2714625"/>
            <a:ext cx="10668000" cy="971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0">
                <a:solidFill>
                  <a:srgbClr val="172C3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2C3D"/>
                </a:solidFill>
                <a:latin typeface="DejaVu Sans"/>
                <a:ea typeface="DejaVu Sans"/>
                <a:cs typeface="DejaVu Sans"/>
              </a:rPr>
              <a:t>Keep one of six illustrative rooms available for emergency surgery. Schedule electives in the other five.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B98862-1BD4-43FB-919B-F820B9E8B9EA}"/>
              </a:ext>
            </a:extLst>
          </p:cNvPr>
          <p:cNvSpPr>
            <a:spLocks noGrp="1"/>
          </p:cNvSpPr>
          <p:nvPr/>
        </p:nvSpPr>
        <p:spPr>
          <a:xfrm>
            <a:off x="742950" y="3743325"/>
            <a:ext cx="10668000" cy="971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0">
                <a:solidFill>
                  <a:srgbClr val="172C3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2C3D"/>
                </a:solidFill>
                <a:latin typeface="DejaVu Sans"/>
                <a:ea typeface="DejaVu Sans"/>
                <a:cs typeface="DejaVu Sans"/>
              </a:rPr>
              <a:t>Compare a fixed specialty-block template with flexible weekly block allocation, then test duration uncertainty.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E13245-A5A6-4E18-9690-750FF7CA59C4}"/>
              </a:ext>
            </a:extLst>
          </p:cNvPr>
          <p:cNvSpPr>
            <a:spLocks noGrp="1"/>
          </p:cNvSpPr>
          <p:nvPr/>
        </p:nvSpPr>
        <p:spPr>
          <a:xfrm>
            <a:off x="723900" y="5953125"/>
            <a:ext cx="1071562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125" b="0">
                <a:solidFill>
                  <a:srgbClr val="5267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777"/>
                </a:solidFill>
                <a:latin typeface="DejaVu Sans"/>
                <a:ea typeface="DejaVu Sans"/>
                <a:cs typeface="DejaVu Sans"/>
              </a:rPr>
              <a:t>Outputs: scheduled cases, clinical priority mix, specialty access, planned workload and simulated overtime.</a:t>
            </a:r>
          </a:p>
        </p:txBody>
      </p:sp>
    </p:spTree>
    <p:extLst>
      <p:ext uri="{BB962C8B-B14F-4D97-AF65-F5344CB8AC3E}">
        <p14:creationId xmlns:p14="http://schemas.microsoft.com/office/powerpoint/2010/main" val="1653839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86ADEC7-BACA-43FB-8DF5-8DA76AED57B4}"/>
              </a:ext>
            </a:extLst>
          </p:cNvPr>
          <p:cNvSpPr>
            <a:spLocks noGrp="1"/>
          </p:cNvSpPr>
          <p:nvPr/>
        </p:nvSpPr>
        <p:spPr>
          <a:xfrm>
            <a:off x="628650" y="342900"/>
            <a:ext cx="1085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700" b="1">
                <a:solidFill>
                  <a:srgbClr val="10283A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0283A"/>
                </a:solidFill>
                <a:latin typeface="DejaVu Sans"/>
                <a:ea typeface="DejaVu Sans"/>
                <a:cs typeface="DejaVu Sans"/>
              </a:rPr>
              <a:t>Evidence boundary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5A328D1-6377-40D4-A4DB-A1F638F22D32}"/>
              </a:ext>
            </a:extLst>
          </p:cNvPr>
          <p:cNvSpPr>
            <a:spLocks noGrp="1"/>
          </p:cNvSpPr>
          <p:nvPr/>
        </p:nvSpPr>
        <p:spPr>
          <a:xfrm>
            <a:off x="657225" y="1038225"/>
            <a:ext cx="10620375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75" b="0">
                <a:solidFill>
                  <a:srgbClr val="5267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26777"/>
                </a:solidFill>
                <a:latin typeface="DejaVu Sans"/>
                <a:ea typeface="DejaVu Sans"/>
                <a:cs typeface="DejaVu Sans"/>
              </a:rPr>
              <a:t>Public facts establish the setting; local operating parameters are disclosed assumptions</a:t>
            </a:r>
          </a:p>
        </p:txBody>
      </p:sp>
      <p:graphicFrame>
        <p:nvGraphicFramePr>
          <p:cNvPr id="9" name="Table 8"/>
          <p:cNvGraphicFramePr/>
          <p:nvPr/>
        </p:nvGraphicFramePr>
        <p:xfrm>
          <a:off x="685800" y="1619250"/>
          <a:ext cx="10820400" cy="3733800"/>
        </p:xfrm>
        <a:graphic>
          <a:graphicData uri="http://schemas.openxmlformats.org/drawingml/2006/table">
            <a:tbl>
              <a:tblPr/>
              <a:tblGrid>
                <a:gridCol w="360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6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Item</a:t>
                      </a:r>
                    </a:p>
                  </a:txBody>
                  <a:tcPr>
                    <a:solidFill>
                      <a:srgbClr val="10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Publicly verified</a:t>
                      </a:r>
                    </a:p>
                  </a:txBody>
                  <a:tcPr>
                    <a:solidFill>
                      <a:srgbClr val="10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Case-study assumption</a:t>
                      </a:r>
                    </a:p>
                  </a:txBody>
                  <a:tcPr>
                    <a:solidFill>
                      <a:srgbClr val="1028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Hospital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DMCH describes itself as a 2,600-bed tertiary hospital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Six-room pilot within a hypothetical surgical suite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Emergency service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Emergency/casualty operations run around the clock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One daytime room protected for emergencies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Case-level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No patient roster used in this project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90 generated elective cases, seed 314159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Staff and resources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No observed roster or room inventory claimed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Illustrative specialty and room eligibility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0153D90D-D163-4F7A-A45F-452BA1D6F078}"/>
              </a:ext>
            </a:extLst>
          </p:cNvPr>
          <p:cNvSpPr>
            <a:spLocks noGrp="1"/>
          </p:cNvSpPr>
          <p:nvPr/>
        </p:nvSpPr>
        <p:spPr>
          <a:xfrm>
            <a:off x="723900" y="5724525"/>
            <a:ext cx="1071562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125" b="0">
                <a:solidFill>
                  <a:srgbClr val="5267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777"/>
                </a:solidFill>
                <a:latin typeface="DejaVu Sans"/>
                <a:ea typeface="DejaVu Sans"/>
                <a:cs typeface="DejaVu Sans"/>
              </a:rPr>
              <a:t>This deck estimates model behavior. It does not report measured DMCH performance.</a:t>
            </a:r>
          </a:p>
        </p:txBody>
      </p:sp>
    </p:spTree>
    <p:extLst>
      <p:ext uri="{BB962C8B-B14F-4D97-AF65-F5344CB8AC3E}">
        <p14:creationId xmlns:p14="http://schemas.microsoft.com/office/powerpoint/2010/main" val="9348441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41374C9-8D2E-494B-8F6F-D69C21FAF583}"/>
              </a:ext>
            </a:extLst>
          </p:cNvPr>
          <p:cNvSpPr>
            <a:spLocks noGrp="1"/>
          </p:cNvSpPr>
          <p:nvPr/>
        </p:nvSpPr>
        <p:spPr>
          <a:xfrm>
            <a:off x="628650" y="342900"/>
            <a:ext cx="1085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700" b="1">
                <a:solidFill>
                  <a:srgbClr val="10283A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0283A"/>
                </a:solidFill>
                <a:latin typeface="DejaVu Sans"/>
                <a:ea typeface="DejaVu Sans"/>
                <a:cs typeface="DejaVu Sans"/>
              </a:rPr>
              <a:t>Demand exceeds elective capacity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C68048A-0BC2-4F24-B754-D06FD8A9D530}"/>
              </a:ext>
            </a:extLst>
          </p:cNvPr>
          <p:cNvSpPr>
            <a:spLocks noGrp="1"/>
          </p:cNvSpPr>
          <p:nvPr/>
        </p:nvSpPr>
        <p:spPr>
          <a:xfrm>
            <a:off x="657225" y="1038225"/>
            <a:ext cx="10620375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75" b="0">
                <a:solidFill>
                  <a:srgbClr val="5267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26777"/>
                </a:solidFill>
                <a:latin typeface="DejaVu Sans"/>
                <a:ea typeface="DejaVu Sans"/>
                <a:cs typeface="DejaVu Sans"/>
              </a:rPr>
              <a:t>Synthetic five-day cohort and resource arithmetic</a:t>
            </a:r>
          </a:p>
        </p:txBody>
      </p:sp>
      <p:graphicFrame>
        <p:nvGraphicFramePr>
          <p:cNvPr id="9" name="Table 8"/>
          <p:cNvGraphicFramePr/>
          <p:nvPr/>
        </p:nvGraphicFramePr>
        <p:xfrm>
          <a:off x="685800" y="1581150"/>
          <a:ext cx="10820400" cy="4190998"/>
        </p:xfrm>
        <a:graphic>
          <a:graphicData uri="http://schemas.openxmlformats.org/drawingml/2006/table">
            <a:tbl>
              <a:tblPr/>
              <a:tblGrid>
                <a:gridCol w="360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871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Quantity</a:t>
                      </a:r>
                    </a:p>
                  </a:txBody>
                  <a:tcPr>
                    <a:solidFill>
                      <a:srgbClr val="10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Value</a:t>
                      </a:r>
                    </a:p>
                  </a:txBody>
                  <a:tcPr>
                    <a:solidFill>
                      <a:srgbClr val="10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Calculation / meaning</a:t>
                      </a:r>
                    </a:p>
                  </a:txBody>
                  <a:tcPr>
                    <a:solidFill>
                      <a:srgbClr val="1028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Elective queue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90 cases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Generated across six specialties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Total requested work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244.0 hours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Procedures plus 25 min turnover per case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Elective regular room 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200.0 hours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 rooms × 5 days × 8 hours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Planned booking limit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175.0 hours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 rooms × 5 days × 7 hours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Priority 1 / 2 /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23 / 36 / 31 cases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Illustrative clinical bands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Protected emergency time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40.0 hours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 room × 5 days × 8 hours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547B11A8-DDF6-4D41-8926-2F5D18166686}"/>
              </a:ext>
            </a:extLst>
          </p:cNvPr>
          <p:cNvSpPr>
            <a:spLocks noGrp="1"/>
          </p:cNvSpPr>
          <p:nvPr/>
        </p:nvSpPr>
        <p:spPr>
          <a:xfrm>
            <a:off x="723900" y="5905500"/>
            <a:ext cx="1071562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125" b="0">
                <a:solidFill>
                  <a:srgbClr val="5267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777"/>
                </a:solidFill>
                <a:latin typeface="DejaVu Sans"/>
                <a:ea typeface="DejaVu Sans"/>
                <a:cs typeface="DejaVu Sans"/>
              </a:rPr>
              <a:t>Booking to seven hours leaves a one-hour margin before the eight-hour elective shift ends.</a:t>
            </a:r>
          </a:p>
        </p:txBody>
      </p:sp>
    </p:spTree>
    <p:extLst>
      <p:ext uri="{BB962C8B-B14F-4D97-AF65-F5344CB8AC3E}">
        <p14:creationId xmlns:p14="http://schemas.microsoft.com/office/powerpoint/2010/main" val="15361313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F22759E-7F8A-4EB7-84AB-11980B77A206}"/>
              </a:ext>
            </a:extLst>
          </p:cNvPr>
          <p:cNvSpPr>
            <a:spLocks noGrp="1"/>
          </p:cNvSpPr>
          <p:nvPr/>
        </p:nvSpPr>
        <p:spPr>
          <a:xfrm>
            <a:off x="628650" y="342900"/>
            <a:ext cx="1085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700" b="1">
                <a:solidFill>
                  <a:srgbClr val="10283A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0283A"/>
                </a:solidFill>
                <a:latin typeface="DejaVu Sans"/>
                <a:ea typeface="DejaVu Sans"/>
                <a:cs typeface="DejaVu Sans"/>
              </a:rPr>
              <a:t>Waiting list by specialty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1A41DE-B574-46AE-B748-6D0F26B78182}"/>
              </a:ext>
            </a:extLst>
          </p:cNvPr>
          <p:cNvSpPr>
            <a:spLocks noGrp="1"/>
          </p:cNvSpPr>
          <p:nvPr/>
        </p:nvSpPr>
        <p:spPr>
          <a:xfrm>
            <a:off x="657225" y="1038225"/>
            <a:ext cx="10620375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75" b="0">
                <a:solidFill>
                  <a:srgbClr val="5267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26777"/>
                </a:solidFill>
                <a:latin typeface="DejaVu Sans"/>
                <a:ea typeface="DejaVu Sans"/>
                <a:cs typeface="DejaVu Sans"/>
              </a:rPr>
              <a:t>Generated inputs, including observed sample averages from the synthetic cohort</a:t>
            </a:r>
          </a:p>
        </p:txBody>
      </p:sp>
      <p:graphicFrame>
        <p:nvGraphicFramePr>
          <p:cNvPr id="9" name="Table 8"/>
          <p:cNvGraphicFramePr/>
          <p:nvPr/>
        </p:nvGraphicFramePr>
        <p:xfrm>
          <a:off x="685800" y="1619250"/>
          <a:ext cx="10820400" cy="4133848"/>
        </p:xfrm>
        <a:graphic>
          <a:graphicData uri="http://schemas.openxmlformats.org/drawingml/2006/table">
            <a:tbl>
              <a:tblPr/>
              <a:tblGrid>
                <a:gridCol w="180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3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3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03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673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Specialty</a:t>
                      </a:r>
                    </a:p>
                  </a:txBody>
                  <a:tcPr>
                    <a:solidFill>
                      <a:srgbClr val="10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Cases</a:t>
                      </a:r>
                    </a:p>
                  </a:txBody>
                  <a:tcPr>
                    <a:solidFill>
                      <a:srgbClr val="10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Priority 1</a:t>
                      </a:r>
                    </a:p>
                  </a:txBody>
                  <a:tcPr>
                    <a:solidFill>
                      <a:srgbClr val="10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Mean procedure</a:t>
                      </a:r>
                    </a:p>
                  </a:txBody>
                  <a:tcPr>
                    <a:solidFill>
                      <a:srgbClr val="10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Queue hours</a:t>
                      </a:r>
                    </a:p>
                  </a:txBody>
                  <a:tcPr>
                    <a:solidFill>
                      <a:srgbClr val="10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Bed starts</a:t>
                      </a:r>
                    </a:p>
                  </a:txBody>
                  <a:tcPr>
                    <a:solidFill>
                      <a:srgbClr val="1028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6731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127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60.8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6731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Orthopedics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17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170 min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55.2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17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6731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Ob/Gyn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125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40.1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6731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Urology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13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138 min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35.3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6731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105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26.0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6731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Neurosurgery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174 min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26.6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6731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244.0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E0339E08-8CA4-485D-A972-B522D03414ED}"/>
              </a:ext>
            </a:extLst>
          </p:cNvPr>
          <p:cNvSpPr>
            <a:spLocks noGrp="1"/>
          </p:cNvSpPr>
          <p:nvPr/>
        </p:nvSpPr>
        <p:spPr>
          <a:xfrm>
            <a:off x="723900" y="5924550"/>
            <a:ext cx="1071562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125" b="0">
                <a:solidFill>
                  <a:srgbClr val="5267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777"/>
                </a:solidFill>
                <a:latin typeface="DejaVu Sans"/>
                <a:ea typeface="DejaVu Sans"/>
                <a:cs typeface="DejaVu Sans"/>
              </a:rPr>
              <a:t>Procedure times are sampled by specialty, truncated to 55–300 min and rounded to 5 min.</a:t>
            </a:r>
          </a:p>
        </p:txBody>
      </p:sp>
    </p:spTree>
    <p:extLst>
      <p:ext uri="{BB962C8B-B14F-4D97-AF65-F5344CB8AC3E}">
        <p14:creationId xmlns:p14="http://schemas.microsoft.com/office/powerpoint/2010/main" val="13125778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7509113-B74C-4942-8BFE-09432DAFA356}"/>
              </a:ext>
            </a:extLst>
          </p:cNvPr>
          <p:cNvSpPr>
            <a:spLocks noGrp="1"/>
          </p:cNvSpPr>
          <p:nvPr/>
        </p:nvSpPr>
        <p:spPr>
          <a:xfrm>
            <a:off x="628650" y="342900"/>
            <a:ext cx="1085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700" b="1">
                <a:solidFill>
                  <a:srgbClr val="10283A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0283A"/>
                </a:solidFill>
                <a:latin typeface="DejaVu Sans"/>
                <a:ea typeface="DejaVu Sans"/>
                <a:cs typeface="DejaVu Sans"/>
              </a:rPr>
              <a:t>Room eligibility and team availability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BC93FCC-4942-460D-A2B7-772CABC2B83F}"/>
              </a:ext>
            </a:extLst>
          </p:cNvPr>
          <p:cNvSpPr>
            <a:spLocks noGrp="1"/>
          </p:cNvSpPr>
          <p:nvPr/>
        </p:nvSpPr>
        <p:spPr>
          <a:xfrm>
            <a:off x="657225" y="1038225"/>
            <a:ext cx="10620375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75" b="0">
                <a:solidFill>
                  <a:srgbClr val="5267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26777"/>
                </a:solidFill>
                <a:latin typeface="DejaVu Sans"/>
                <a:ea typeface="DejaVu Sans"/>
                <a:cs typeface="DejaVu Sans"/>
              </a:rPr>
              <a:t>Only the five elective rooms appear in this assignment table</a:t>
            </a:r>
          </a:p>
        </p:txBody>
      </p:sp>
      <p:graphicFrame>
        <p:nvGraphicFramePr>
          <p:cNvPr id="9" name="Table 8"/>
          <p:cNvGraphicFramePr/>
          <p:nvPr/>
        </p:nvGraphicFramePr>
        <p:xfrm>
          <a:off x="685800" y="1600200"/>
          <a:ext cx="10820400" cy="4114803"/>
        </p:xfrm>
        <a:graphic>
          <a:graphicData uri="http://schemas.openxmlformats.org/drawingml/2006/table">
            <a:tbl>
              <a:tblPr/>
              <a:tblGrid>
                <a:gridCol w="360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7829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Room</a:t>
                      </a:r>
                    </a:p>
                  </a:txBody>
                  <a:tcPr>
                    <a:solidFill>
                      <a:srgbClr val="10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Eligible specialties</a:t>
                      </a:r>
                    </a:p>
                  </a:txBody>
                  <a:tcPr>
                    <a:solidFill>
                      <a:srgbClr val="10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Baseline weekly specialty pattern</a:t>
                      </a:r>
                    </a:p>
                  </a:txBody>
                  <a:tcPr>
                    <a:solidFill>
                      <a:srgbClr val="1028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829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General, Urology, 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General all five 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829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R2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General, Urology, ENT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Urology / ENT / Urology / ENT / Urology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829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Orthopedics,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Orthopedics all five 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7829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R4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Ob/Gyn, General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Ob/Gyn all five days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7829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Neurosurgery, ENT, Urology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Neurosurgery / Urology / Neurosurgery / Urology / Neurosurgery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7829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R6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Reserved for emergencies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Excluded from elective assignment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1C96B233-F3F9-422C-AB73-A8BD6657B1BD}"/>
              </a:ext>
            </a:extLst>
          </p:cNvPr>
          <p:cNvSpPr>
            <a:spLocks noGrp="1"/>
          </p:cNvSpPr>
          <p:nvPr/>
        </p:nvSpPr>
        <p:spPr>
          <a:xfrm>
            <a:off x="723900" y="5895975"/>
            <a:ext cx="1071562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125" b="0">
                <a:solidFill>
                  <a:srgbClr val="5267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777"/>
                </a:solidFill>
                <a:latin typeface="DejaVu Sans"/>
                <a:ea typeface="DejaVu Sans"/>
                <a:cs typeface="DejaVu Sans"/>
              </a:rPr>
              <a:t>Synthetic rosters: General permits 2 simultaneous specialty blocks; every other specialty permits 1.</a:t>
            </a:r>
          </a:p>
        </p:txBody>
      </p:sp>
    </p:spTree>
    <p:extLst>
      <p:ext uri="{BB962C8B-B14F-4D97-AF65-F5344CB8AC3E}">
        <p14:creationId xmlns:p14="http://schemas.microsoft.com/office/powerpoint/2010/main" val="14811255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35117C-E13B-4B0F-BD07-12ABD9CF9EC5}"/>
              </a:ext>
            </a:extLst>
          </p:cNvPr>
          <p:cNvSpPr>
            <a:spLocks noGrp="1"/>
          </p:cNvSpPr>
          <p:nvPr/>
        </p:nvSpPr>
        <p:spPr>
          <a:xfrm>
            <a:off x="628650" y="342900"/>
            <a:ext cx="1085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700" b="1">
                <a:solidFill>
                  <a:srgbClr val="10283A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0283A"/>
                </a:solidFill>
                <a:latin typeface="DejaVu Sans"/>
                <a:ea typeface="DejaVu Sans"/>
                <a:cs typeface="DejaVu Sans"/>
              </a:rPr>
              <a:t>Operational parameters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E8869EF-61C9-4BC1-99E0-7163359C179E}"/>
              </a:ext>
            </a:extLst>
          </p:cNvPr>
          <p:cNvSpPr>
            <a:spLocks noGrp="1"/>
          </p:cNvSpPr>
          <p:nvPr/>
        </p:nvSpPr>
        <p:spPr>
          <a:xfrm>
            <a:off x="657225" y="1038225"/>
            <a:ext cx="10620375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75" b="0">
                <a:solidFill>
                  <a:srgbClr val="5267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26777"/>
                </a:solidFill>
                <a:latin typeface="DejaVu Sans"/>
                <a:ea typeface="DejaVu Sans"/>
                <a:cs typeface="DejaVu Sans"/>
              </a:rPr>
              <a:t>Every policy uses the same patient queue, room rules and specialty access floors</a:t>
            </a:r>
          </a:p>
        </p:txBody>
      </p:sp>
      <p:graphicFrame>
        <p:nvGraphicFramePr>
          <p:cNvPr id="8" name="Table 7"/>
          <p:cNvGraphicFramePr/>
          <p:nvPr/>
        </p:nvGraphicFramePr>
        <p:xfrm>
          <a:off x="685800" y="1533525"/>
          <a:ext cx="10820400" cy="4495800"/>
        </p:xfrm>
        <a:graphic>
          <a:graphicData uri="http://schemas.openxmlformats.org/drawingml/2006/table">
            <a:tbl>
              <a:tblPr/>
              <a:tblGrid>
                <a:gridCol w="360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197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Rule</a:t>
                      </a:r>
                    </a:p>
                  </a:txBody>
                  <a:tcPr>
                    <a:solidFill>
                      <a:srgbClr val="10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Value</a:t>
                      </a:r>
                    </a:p>
                  </a:txBody>
                  <a:tcPr>
                    <a:solidFill>
                      <a:srgbClr val="10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Model interpretation</a:t>
                      </a:r>
                    </a:p>
                  </a:txBody>
                  <a:tcPr>
                    <a:solidFill>
                      <a:srgbClr val="1028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Regular elective shift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480 min / room / day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Overtime starts beyond this limit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Booking cap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420 min / room / day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60 min scheduling margin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Turnover allowance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25 min / case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Added to each planned operation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Postoperative bed starts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At most 11 / day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Illustrative downstream resource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Daily team sessions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General 2; others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One specialty block per room-day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Weekly specialty minima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 / 7 / 7 / 5 / 5 / 3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General / Ortho / Ob/Gyn / Urology / ENT / Neuro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Case readiness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Day 1, 2 or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Cannot schedule before ready 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98135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CD41A6B-3DA3-472D-9B22-8D4303B9E3E3}"/>
              </a:ext>
            </a:extLst>
          </p:cNvPr>
          <p:cNvSpPr>
            <a:spLocks noGrp="1"/>
          </p:cNvSpPr>
          <p:nvPr/>
        </p:nvSpPr>
        <p:spPr>
          <a:xfrm>
            <a:off x="628650" y="342900"/>
            <a:ext cx="1085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700" b="1">
                <a:solidFill>
                  <a:srgbClr val="10283A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0283A"/>
                </a:solidFill>
                <a:latin typeface="DejaVu Sans"/>
                <a:ea typeface="DejaVu Sans"/>
                <a:cs typeface="DejaVu Sans"/>
              </a:rPr>
              <a:t>Fixed-block comparator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4232B64-0246-45AC-8F05-B249548E3A52}"/>
              </a:ext>
            </a:extLst>
          </p:cNvPr>
          <p:cNvSpPr>
            <a:spLocks noGrp="1"/>
          </p:cNvSpPr>
          <p:nvPr/>
        </p:nvSpPr>
        <p:spPr>
          <a:xfrm>
            <a:off x="657225" y="1038225"/>
            <a:ext cx="10620375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75" b="0">
                <a:solidFill>
                  <a:srgbClr val="5267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26777"/>
                </a:solidFill>
                <a:latin typeface="DejaVu Sans"/>
                <a:ea typeface="DejaVu Sans"/>
                <a:cs typeface="DejaVu Sans"/>
              </a:rPr>
              <a:t>Synthetic weekly template; case assignments within each block are optimized</a:t>
            </a:r>
          </a:p>
        </p:txBody>
      </p:sp>
      <p:graphicFrame>
        <p:nvGraphicFramePr>
          <p:cNvPr id="10" name="Table 9"/>
          <p:cNvGraphicFramePr/>
          <p:nvPr/>
        </p:nvGraphicFramePr>
        <p:xfrm>
          <a:off x="685800" y="1781175"/>
          <a:ext cx="10820400" cy="2857498"/>
        </p:xfrm>
        <a:graphic>
          <a:graphicData uri="http://schemas.openxmlformats.org/drawingml/2006/table">
            <a:tbl>
              <a:tblPr/>
              <a:tblGrid>
                <a:gridCol w="180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3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3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03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8214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Room</a:t>
                      </a:r>
                    </a:p>
                  </a:txBody>
                  <a:tcPr>
                    <a:solidFill>
                      <a:srgbClr val="10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Monday</a:t>
                      </a:r>
                    </a:p>
                  </a:txBody>
                  <a:tcPr>
                    <a:solidFill>
                      <a:srgbClr val="10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Tuesday</a:t>
                      </a:r>
                    </a:p>
                  </a:txBody>
                  <a:tcPr>
                    <a:solidFill>
                      <a:srgbClr val="10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Wednesday</a:t>
                      </a:r>
                    </a:p>
                  </a:txBody>
                  <a:tcPr>
                    <a:solidFill>
                      <a:srgbClr val="10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Thursday</a:t>
                      </a:r>
                    </a:p>
                  </a:txBody>
                  <a:tcPr>
                    <a:solidFill>
                      <a:srgbClr val="10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Friday</a:t>
                      </a:r>
                    </a:p>
                  </a:txBody>
                  <a:tcPr>
                    <a:solidFill>
                      <a:srgbClr val="1028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82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82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R2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URO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ENT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URO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ENT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URO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82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ORTH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ORTH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ORTH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ORTH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ORTH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82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R4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OBG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OBG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OBG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OBG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OBG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82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NEURO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NEURO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NEURO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82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R6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EMERG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EMERG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EMERG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EMERG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EMERG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FB5AEB07-E7A1-4BAD-8EAA-457914438A9A}"/>
              </a:ext>
            </a:extLst>
          </p:cNvPr>
          <p:cNvSpPr>
            <a:spLocks noGrp="1"/>
          </p:cNvSpPr>
          <p:nvPr/>
        </p:nvSpPr>
        <p:spPr>
          <a:xfrm>
            <a:off x="742950" y="5010150"/>
            <a:ext cx="106680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0">
                <a:solidFill>
                  <a:srgbClr val="172C3D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72C3D"/>
                </a:solidFill>
                <a:latin typeface="DejaVu Sans"/>
                <a:ea typeface="DejaVu Sans"/>
                <a:cs typeface="DejaVu Sans"/>
              </a:rPr>
              <a:t>The comparator receives the same patient-level objective and constraints. Only the specialty block pattern is fixed.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BF1EE67-6FB8-4CD0-BCE8-59F342B7DAC5}"/>
              </a:ext>
            </a:extLst>
          </p:cNvPr>
          <p:cNvSpPr>
            <a:spLocks noGrp="1"/>
          </p:cNvSpPr>
          <p:nvPr/>
        </p:nvSpPr>
        <p:spPr>
          <a:xfrm>
            <a:off x="742950" y="5467350"/>
            <a:ext cx="106680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0">
                <a:solidFill>
                  <a:srgbClr val="172C3D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72C3D"/>
                </a:solidFill>
                <a:latin typeface="DejaVu Sans"/>
                <a:ea typeface="DejaVu Sans"/>
                <a:cs typeface="DejaVu Sans"/>
              </a:rPr>
              <a:t>This is a constructed policy for comparison. It is not a claim about DMCH scheduling practice.</a:t>
            </a:r>
          </a:p>
        </p:txBody>
      </p:sp>
    </p:spTree>
    <p:extLst>
      <p:ext uri="{BB962C8B-B14F-4D97-AF65-F5344CB8AC3E}">
        <p14:creationId xmlns:p14="http://schemas.microsoft.com/office/powerpoint/2010/main" val="8859034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F158A0C-B641-4952-AACD-391A55AD9A8F}"/>
              </a:ext>
            </a:extLst>
          </p:cNvPr>
          <p:cNvSpPr>
            <a:spLocks noGrp="1"/>
          </p:cNvSpPr>
          <p:nvPr/>
        </p:nvSpPr>
        <p:spPr>
          <a:xfrm>
            <a:off x="628650" y="342900"/>
            <a:ext cx="1085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700" b="1">
                <a:solidFill>
                  <a:srgbClr val="10283A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0283A"/>
                </a:solidFill>
                <a:latin typeface="DejaVu Sans"/>
                <a:ea typeface="DejaVu Sans"/>
                <a:cs typeface="DejaVu Sans"/>
              </a:rPr>
              <a:t>Case-level input extract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5B72331-849D-45A7-8B72-2577600553BC}"/>
              </a:ext>
            </a:extLst>
          </p:cNvPr>
          <p:cNvSpPr>
            <a:spLocks noGrp="1"/>
          </p:cNvSpPr>
          <p:nvPr/>
        </p:nvSpPr>
        <p:spPr>
          <a:xfrm>
            <a:off x="657225" y="1038225"/>
            <a:ext cx="10620375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75" b="0">
                <a:solidFill>
                  <a:srgbClr val="5267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26777"/>
                </a:solidFill>
                <a:latin typeface="DejaVu Sans"/>
                <a:ea typeface="DejaVu Sans"/>
                <a:cs typeface="DejaVu Sans"/>
              </a:rPr>
              <a:t>First 12 of 90 generated records; all values are synthetic</a:t>
            </a:r>
          </a:p>
        </p:txBody>
      </p:sp>
      <p:graphicFrame>
        <p:nvGraphicFramePr>
          <p:cNvPr id="9" name="Table 8"/>
          <p:cNvGraphicFramePr/>
          <p:nvPr/>
        </p:nvGraphicFramePr>
        <p:xfrm>
          <a:off x="685800" y="1438275"/>
          <a:ext cx="10820400" cy="4429126"/>
        </p:xfrm>
        <a:graphic>
          <a:graphicData uri="http://schemas.openxmlformats.org/drawingml/2006/table">
            <a:tbl>
              <a:tblPr/>
              <a:tblGrid>
                <a:gridCol w="1352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40702">
                <a:tc>
                  <a:txBody>
                    <a:bodyPr/>
                    <a:lstStyle/>
                    <a:p>
                      <a:r>
                        <a:rPr sz="1013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ID</a:t>
                      </a:r>
                    </a:p>
                  </a:txBody>
                  <a:tcPr>
                    <a:solidFill>
                      <a:srgbClr val="10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3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Specialty</a:t>
                      </a:r>
                    </a:p>
                  </a:txBody>
                  <a:tcPr>
                    <a:solidFill>
                      <a:srgbClr val="10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3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</a:t>
                      </a:r>
                    </a:p>
                  </a:txBody>
                  <a:tcPr>
                    <a:solidFill>
                      <a:srgbClr val="10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3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Wait</a:t>
                      </a:r>
                    </a:p>
                  </a:txBody>
                  <a:tcPr>
                    <a:solidFill>
                      <a:srgbClr val="10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3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Procedure</a:t>
                      </a:r>
                    </a:p>
                  </a:txBody>
                  <a:tcPr>
                    <a:solidFill>
                      <a:srgbClr val="10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3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Ready</a:t>
                      </a:r>
                    </a:p>
                  </a:txBody>
                  <a:tcPr>
                    <a:solidFill>
                      <a:srgbClr val="10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3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Target</a:t>
                      </a:r>
                    </a:p>
                  </a:txBody>
                  <a:tcPr>
                    <a:solidFill>
                      <a:srgbClr val="10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3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Post-op bed</a:t>
                      </a:r>
                    </a:p>
                  </a:txBody>
                  <a:tcPr>
                    <a:solidFill>
                      <a:srgbClr val="1028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702"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160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702"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C002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GEN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71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100 min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D1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D3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Yes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0702"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150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0702"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C004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GEN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56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180 min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D1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D3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Yes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0702"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C005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145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0702"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C006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GEN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19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110 min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D2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D5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Yes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0702"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C007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160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0702"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C008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GEN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80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175 min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D1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D5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No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0702"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C009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110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0702"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C010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GEN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27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120 min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D1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D5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Yes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0702"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C011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130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0702"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C012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GEN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70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120 min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D1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D5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Yes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B86AA8AA-821D-4B6F-9381-746B14EC6516}"/>
              </a:ext>
            </a:extLst>
          </p:cNvPr>
          <p:cNvSpPr>
            <a:spLocks noGrp="1"/>
          </p:cNvSpPr>
          <p:nvPr/>
        </p:nvSpPr>
        <p:spPr>
          <a:xfrm>
            <a:off x="723900" y="6029325"/>
            <a:ext cx="1071562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125" b="0">
                <a:solidFill>
                  <a:srgbClr val="5267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777"/>
                </a:solidFill>
                <a:latin typeface="DejaVu Sans"/>
                <a:ea typeface="DejaVu Sans"/>
                <a:cs typeface="DejaVu Sans"/>
              </a:rPr>
              <a:t>P=illustrative priority band (1 highest); target is a soft planning date, not a clinical deadline.</a:t>
            </a:r>
          </a:p>
        </p:txBody>
      </p:sp>
    </p:spTree>
    <p:extLst>
      <p:ext uri="{BB962C8B-B14F-4D97-AF65-F5344CB8AC3E}">
        <p14:creationId xmlns:p14="http://schemas.microsoft.com/office/powerpoint/2010/main" val="6900962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728D4E8-AD13-434E-9047-A3FC67C63258}"/>
              </a:ext>
            </a:extLst>
          </p:cNvPr>
          <p:cNvSpPr>
            <a:spLocks noGrp="1"/>
          </p:cNvSpPr>
          <p:nvPr/>
        </p:nvSpPr>
        <p:spPr>
          <a:xfrm>
            <a:off x="628650" y="342900"/>
            <a:ext cx="1085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700" b="1">
                <a:solidFill>
                  <a:srgbClr val="10283A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0283A"/>
                </a:solidFill>
                <a:latin typeface="DejaVu Sans"/>
                <a:ea typeface="DejaVu Sans"/>
                <a:cs typeface="DejaVu Sans"/>
              </a:rPr>
              <a:t>Decision variables and priority score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8A93102-A158-48A2-9E82-68ADA0BE3A9F}"/>
              </a:ext>
            </a:extLst>
          </p:cNvPr>
          <p:cNvSpPr>
            <a:spLocks noGrp="1"/>
          </p:cNvSpPr>
          <p:nvPr/>
        </p:nvSpPr>
        <p:spPr>
          <a:xfrm>
            <a:off x="657225" y="1038225"/>
            <a:ext cx="10620375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75" b="0">
                <a:solidFill>
                  <a:srgbClr val="5267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26777"/>
                </a:solidFill>
                <a:latin typeface="DejaVu Sans"/>
                <a:ea typeface="DejaVu Sans"/>
                <a:cs typeface="DejaVu Sans"/>
              </a:rPr>
              <a:t>Binary mixed-integer linear program (MILP)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D6D796-CA42-43DB-8874-18641FB2C099}"/>
              </a:ext>
            </a:extLst>
          </p:cNvPr>
          <p:cNvSpPr>
            <a:spLocks noGrp="1"/>
          </p:cNvSpPr>
          <p:nvPr/>
        </p:nvSpPr>
        <p:spPr>
          <a:xfrm>
            <a:off x="742950" y="1619250"/>
            <a:ext cx="10668000" cy="914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725" b="0">
                <a:solidFill>
                  <a:srgbClr val="172C3D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2C3D"/>
                </a:solidFill>
                <a:latin typeface="DejaVu Sans"/>
                <a:ea typeface="DejaVu Sans"/>
                <a:cs typeface="DejaVu Sans"/>
              </a:rPr>
              <a:t>xᵢᵣd = 1 when elective case i is assigned to room r on day d; otherwise 0.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E07CC7-96C0-4689-AC7F-9098ED6579B9}"/>
              </a:ext>
            </a:extLst>
          </p:cNvPr>
          <p:cNvSpPr>
            <a:spLocks noGrp="1"/>
          </p:cNvSpPr>
          <p:nvPr/>
        </p:nvSpPr>
        <p:spPr>
          <a:xfrm>
            <a:off x="742950" y="2590800"/>
            <a:ext cx="10668000" cy="914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725" b="0">
                <a:solidFill>
                  <a:srgbClr val="172C3D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2C3D"/>
                </a:solidFill>
                <a:latin typeface="DejaVu Sans"/>
                <a:ea typeface="DejaVu Sans"/>
                <a:cs typeface="DejaVu Sans"/>
              </a:rPr>
              <a:t>yᵣds = 1 when room r is assigned to specialty s on day d; otherwise 0.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11FE4D-EE5B-46F3-9CB9-DEF9B3807916}"/>
              </a:ext>
            </a:extLst>
          </p:cNvPr>
          <p:cNvSpPr>
            <a:spLocks noGrp="1"/>
          </p:cNvSpPr>
          <p:nvPr/>
        </p:nvSpPr>
        <p:spPr>
          <a:xfrm>
            <a:off x="742950" y="3562350"/>
            <a:ext cx="10668000" cy="914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725" b="0">
                <a:solidFill>
                  <a:srgbClr val="172C3D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2C3D"/>
                </a:solidFill>
                <a:latin typeface="DejaVu Sans"/>
                <a:ea typeface="DejaVu Sans"/>
                <a:cs typeface="DejaVu Sans"/>
              </a:rPr>
              <a:t>vᵢd = wₚ + 1.2 min(waitᵢ, 90)/30 − 0.6 max(0, d − targetᵢ).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210420-6B48-44DB-A81D-B7FC213AB04F}"/>
              </a:ext>
            </a:extLst>
          </p:cNvPr>
          <p:cNvSpPr>
            <a:spLocks noGrp="1"/>
          </p:cNvSpPr>
          <p:nvPr/>
        </p:nvSpPr>
        <p:spPr>
          <a:xfrm>
            <a:off x="742950" y="4533900"/>
            <a:ext cx="10668000" cy="914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725" b="0">
                <a:solidFill>
                  <a:srgbClr val="172C3D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2C3D"/>
                </a:solidFill>
                <a:latin typeface="DejaVu Sans"/>
                <a:ea typeface="DejaVu Sans"/>
                <a:cs typeface="DejaVu Sans"/>
              </a:rPr>
              <a:t>Maximize   Σᵢ Σᵣ Σd  vᵢd xᵢᵣd    with   w₁=12, w₂=5, w₃=2.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FDF939-E01A-4953-96D6-8022E6107467}"/>
              </a:ext>
            </a:extLst>
          </p:cNvPr>
          <p:cNvSpPr>
            <a:spLocks noGrp="1"/>
          </p:cNvSpPr>
          <p:nvPr/>
        </p:nvSpPr>
        <p:spPr>
          <a:xfrm>
            <a:off x="723900" y="5953125"/>
            <a:ext cx="1071562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125" b="0">
                <a:solidFill>
                  <a:srgbClr val="5267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777"/>
                </a:solidFill>
                <a:latin typeface="DejaVu Sans"/>
                <a:ea typeface="DejaVu Sans"/>
                <a:cs typeface="DejaVu Sans"/>
              </a:rPr>
              <a:t>The score is a planning preference. It is not a clinical benefit or financial value measure.</a:t>
            </a:r>
          </a:p>
        </p:txBody>
      </p:sp>
    </p:spTree>
    <p:extLst>
      <p:ext uri="{BB962C8B-B14F-4D97-AF65-F5344CB8AC3E}">
        <p14:creationId xmlns:p14="http://schemas.microsoft.com/office/powerpoint/2010/main" val="5436048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31EBA8C-3CA0-41E7-8ACA-D6D999D43168}"/>
              </a:ext>
            </a:extLst>
          </p:cNvPr>
          <p:cNvSpPr>
            <a:spLocks noGrp="1"/>
          </p:cNvSpPr>
          <p:nvPr/>
        </p:nvSpPr>
        <p:spPr>
          <a:xfrm>
            <a:off x="628650" y="342900"/>
            <a:ext cx="1085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700" b="1">
                <a:solidFill>
                  <a:srgbClr val="10283A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0283A"/>
                </a:solidFill>
                <a:latin typeface="DejaVu Sans"/>
                <a:ea typeface="DejaVu Sans"/>
                <a:cs typeface="DejaVu Sans"/>
              </a:rPr>
              <a:t>Assignment and capacity equations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3260390-2E80-41FC-8E35-58443924E2C4}"/>
              </a:ext>
            </a:extLst>
          </p:cNvPr>
          <p:cNvSpPr>
            <a:spLocks noGrp="1"/>
          </p:cNvSpPr>
          <p:nvPr/>
        </p:nvSpPr>
        <p:spPr>
          <a:xfrm>
            <a:off x="657225" y="1038225"/>
            <a:ext cx="10620375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75" b="0">
                <a:solidFill>
                  <a:srgbClr val="5267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26777"/>
                </a:solidFill>
                <a:latin typeface="DejaVu Sans"/>
                <a:ea typeface="DejaVu Sans"/>
                <a:cs typeface="DejaVu Sans"/>
              </a:rPr>
              <a:t>R6 is absent from the elective room set R={R1,…,R5}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E8CCBF-A957-4A59-A860-E356FDEE4ACC}"/>
              </a:ext>
            </a:extLst>
          </p:cNvPr>
          <p:cNvSpPr>
            <a:spLocks noGrp="1"/>
          </p:cNvSpPr>
          <p:nvPr/>
        </p:nvSpPr>
        <p:spPr>
          <a:xfrm>
            <a:off x="742950" y="1590675"/>
            <a:ext cx="10668000" cy="742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00" b="0">
                <a:solidFill>
                  <a:srgbClr val="172C3D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72C3D"/>
                </a:solidFill>
                <a:latin typeface="DejaVu Sans"/>
                <a:ea typeface="DejaVu Sans"/>
                <a:cs typeface="DejaVu Sans"/>
              </a:rPr>
              <a:t>Each patient at most once:             Σᵣ Σd xᵢᵣd ≤ 1                         for every i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7D2241-C009-4A7F-8FD4-A8F565FF6130}"/>
              </a:ext>
            </a:extLst>
          </p:cNvPr>
          <p:cNvSpPr>
            <a:spLocks noGrp="1"/>
          </p:cNvSpPr>
          <p:nvPr/>
        </p:nvSpPr>
        <p:spPr>
          <a:xfrm>
            <a:off x="742950" y="2390775"/>
            <a:ext cx="10668000" cy="742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00" b="0">
                <a:solidFill>
                  <a:srgbClr val="172C3D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72C3D"/>
                </a:solidFill>
                <a:latin typeface="DejaVu Sans"/>
                <a:ea typeface="DejaVu Sans"/>
                <a:cs typeface="DejaVu Sans"/>
              </a:rPr>
              <a:t>Daily room booking:                  Σᵢ (tᵢ + 25)xᵢᵣd ≤ C             for every r,d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04FFFF-F7C6-45AD-B8F2-8FD1E0C87D71}"/>
              </a:ext>
            </a:extLst>
          </p:cNvPr>
          <p:cNvSpPr>
            <a:spLocks noGrp="1"/>
          </p:cNvSpPr>
          <p:nvPr/>
        </p:nvSpPr>
        <p:spPr>
          <a:xfrm>
            <a:off x="742950" y="3190875"/>
            <a:ext cx="10668000" cy="742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00" b="0">
                <a:solidFill>
                  <a:srgbClr val="172C3D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72C3D"/>
                </a:solidFill>
                <a:latin typeface="DejaVu Sans"/>
                <a:ea typeface="DejaVu Sans"/>
                <a:cs typeface="DejaVu Sans"/>
              </a:rPr>
              <a:t>Specialty compatibility:             xᵢᵣd ≤ yᵣd,s(i)                 for eligible r,d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D5BF34E-2984-4EFE-B42F-CBA91938D09A}"/>
              </a:ext>
            </a:extLst>
          </p:cNvPr>
          <p:cNvSpPr>
            <a:spLocks noGrp="1"/>
          </p:cNvSpPr>
          <p:nvPr/>
        </p:nvSpPr>
        <p:spPr>
          <a:xfrm>
            <a:off x="742950" y="3990975"/>
            <a:ext cx="10668000" cy="742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00" b="0">
                <a:solidFill>
                  <a:srgbClr val="172C3D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72C3D"/>
                </a:solidFill>
                <a:latin typeface="DejaVu Sans"/>
                <a:ea typeface="DejaVu Sans"/>
                <a:cs typeface="DejaVu Sans"/>
              </a:rPr>
              <a:t>One specialty per room-day:       Σs yᵣds ≤ 1                       for every r,d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E1139D9-306C-4038-AA71-DF903F1660C1}"/>
              </a:ext>
            </a:extLst>
          </p:cNvPr>
          <p:cNvSpPr>
            <a:spLocks noGrp="1"/>
          </p:cNvSpPr>
          <p:nvPr/>
        </p:nvSpPr>
        <p:spPr>
          <a:xfrm>
            <a:off x="742950" y="4791075"/>
            <a:ext cx="10668000" cy="742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00" b="0">
                <a:solidFill>
                  <a:srgbClr val="172C3D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72C3D"/>
                </a:solidFill>
                <a:latin typeface="DejaVu Sans"/>
                <a:ea typeface="DejaVu Sans"/>
                <a:cs typeface="DejaVu Sans"/>
              </a:rPr>
              <a:t>Case readiness:                       xᵢᵣd = 0                       when d &lt; releaseᵢ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E092D4E-1D45-4688-BBBD-72C4EF281777}"/>
              </a:ext>
            </a:extLst>
          </p:cNvPr>
          <p:cNvSpPr>
            <a:spLocks noGrp="1"/>
          </p:cNvSpPr>
          <p:nvPr/>
        </p:nvSpPr>
        <p:spPr>
          <a:xfrm>
            <a:off x="723900" y="5953125"/>
            <a:ext cx="1071562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125" b="0">
                <a:solidFill>
                  <a:srgbClr val="5267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777"/>
                </a:solidFill>
                <a:latin typeface="DejaVu Sans"/>
                <a:ea typeface="DejaVu Sans"/>
                <a:cs typeface="DejaVu Sans"/>
              </a:rPr>
              <a:t>C = 420 min in the main policy; room eligibility determines which x and y variables exist.</a:t>
            </a:r>
          </a:p>
        </p:txBody>
      </p:sp>
    </p:spTree>
    <p:extLst>
      <p:ext uri="{BB962C8B-B14F-4D97-AF65-F5344CB8AC3E}">
        <p14:creationId xmlns:p14="http://schemas.microsoft.com/office/powerpoint/2010/main" val="12942037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6ADFFE3-9583-4554-96E8-1C2F684F98E8}"/>
              </a:ext>
            </a:extLst>
          </p:cNvPr>
          <p:cNvSpPr>
            <a:spLocks noGrp="1"/>
          </p:cNvSpPr>
          <p:nvPr/>
        </p:nvSpPr>
        <p:spPr>
          <a:xfrm>
            <a:off x="628650" y="342900"/>
            <a:ext cx="1085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700" b="1">
                <a:solidFill>
                  <a:srgbClr val="10283A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0283A"/>
                </a:solidFill>
                <a:latin typeface="DejaVu Sans"/>
                <a:ea typeface="DejaVu Sans"/>
                <a:cs typeface="DejaVu Sans"/>
              </a:rPr>
              <a:t>Team, bed and access equations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32556BD-4E45-43E5-854F-4F734CAB523D}"/>
              </a:ext>
            </a:extLst>
          </p:cNvPr>
          <p:cNvSpPr>
            <a:spLocks noGrp="1"/>
          </p:cNvSpPr>
          <p:nvPr/>
        </p:nvSpPr>
        <p:spPr>
          <a:xfrm>
            <a:off x="657225" y="1038225"/>
            <a:ext cx="10620375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75" b="0">
                <a:solidFill>
                  <a:srgbClr val="5267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26777"/>
                </a:solidFill>
                <a:latin typeface="DejaVu Sans"/>
                <a:ea typeface="DejaVu Sans"/>
                <a:cs typeface="DejaVu Sans"/>
              </a:rPr>
              <a:t>Simple access floors prevent the model from abandoning an entire specialty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10E3BB2-9A69-4767-BDDC-EC5A2EA2D42A}"/>
              </a:ext>
            </a:extLst>
          </p:cNvPr>
          <p:cNvSpPr>
            <a:spLocks noGrp="1"/>
          </p:cNvSpPr>
          <p:nvPr/>
        </p:nvSpPr>
        <p:spPr>
          <a:xfrm>
            <a:off x="742950" y="1743075"/>
            <a:ext cx="10668000" cy="923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650" b="0">
                <a:solidFill>
                  <a:srgbClr val="172C3D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72C3D"/>
                </a:solidFill>
                <a:latin typeface="DejaVu Sans"/>
                <a:ea typeface="DejaVu Sans"/>
                <a:cs typeface="DejaVu Sans"/>
              </a:rPr>
              <a:t>Team sessions:              Σᵣ yᵣds ≤ Tₛ                         for each specialty s, day 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2F1783-BBC2-4E24-947A-136A53559E65}"/>
              </a:ext>
            </a:extLst>
          </p:cNvPr>
          <p:cNvSpPr>
            <a:spLocks noGrp="1"/>
          </p:cNvSpPr>
          <p:nvPr/>
        </p:nvSpPr>
        <p:spPr>
          <a:xfrm>
            <a:off x="742950" y="2724150"/>
            <a:ext cx="10668000" cy="923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650" b="0">
                <a:solidFill>
                  <a:srgbClr val="172C3D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72C3D"/>
                </a:solidFill>
                <a:latin typeface="DejaVu Sans"/>
                <a:ea typeface="DejaVu Sans"/>
                <a:cs typeface="DejaVu Sans"/>
              </a:rPr>
              <a:t>Post-op bed starts:       Σᵢ Σᵣ bᵢxᵢᵣd ≤ 11                    for each day 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391081-BF7C-463D-BD11-CF634A6C2AB1}"/>
              </a:ext>
            </a:extLst>
          </p:cNvPr>
          <p:cNvSpPr>
            <a:spLocks noGrp="1"/>
          </p:cNvSpPr>
          <p:nvPr/>
        </p:nvSpPr>
        <p:spPr>
          <a:xfrm>
            <a:off x="742950" y="3705225"/>
            <a:ext cx="10668000" cy="923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650" b="0">
                <a:solidFill>
                  <a:srgbClr val="172C3D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72C3D"/>
                </a:solidFill>
                <a:latin typeface="DejaVu Sans"/>
                <a:ea typeface="DejaVu Sans"/>
                <a:cs typeface="DejaVu Sans"/>
              </a:rPr>
              <a:t>Access floor:                Σᵢ∈s Σᵣ Σd xᵢᵣd ≥ Lₛ              for each specialty 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9EDFDA-E642-44DA-AD99-55DD0CA5D2F4}"/>
              </a:ext>
            </a:extLst>
          </p:cNvPr>
          <p:cNvSpPr>
            <a:spLocks noGrp="1"/>
          </p:cNvSpPr>
          <p:nvPr/>
        </p:nvSpPr>
        <p:spPr>
          <a:xfrm>
            <a:off x="742950" y="4686300"/>
            <a:ext cx="10668000" cy="923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650" b="0">
                <a:solidFill>
                  <a:srgbClr val="172C3D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72C3D"/>
                </a:solidFill>
                <a:latin typeface="DejaVu Sans"/>
                <a:ea typeface="DejaVu Sans"/>
                <a:cs typeface="DejaVu Sans"/>
              </a:rPr>
              <a:t>Binary domains:            xᵢᵣd, yᵣds ∈ {0,1}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ADF561-0DC4-4209-BA5E-3BDAF818AB3B}"/>
              </a:ext>
            </a:extLst>
          </p:cNvPr>
          <p:cNvSpPr>
            <a:spLocks noGrp="1"/>
          </p:cNvSpPr>
          <p:nvPr/>
        </p:nvSpPr>
        <p:spPr>
          <a:xfrm>
            <a:off x="723900" y="5953125"/>
            <a:ext cx="1071562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125" b="0">
                <a:solidFill>
                  <a:srgbClr val="5267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777"/>
                </a:solidFill>
                <a:latin typeface="DejaVu Sans"/>
                <a:ea typeface="DejaVu Sans"/>
                <a:cs typeface="DejaVu Sans"/>
              </a:rPr>
              <a:t>T = (2,1,1,1,1,1); L = (10,7,7,5,5,3) in the specialty order shown on slide 7.</a:t>
            </a:r>
          </a:p>
        </p:txBody>
      </p:sp>
    </p:spTree>
    <p:extLst>
      <p:ext uri="{BB962C8B-B14F-4D97-AF65-F5344CB8AC3E}">
        <p14:creationId xmlns:p14="http://schemas.microsoft.com/office/powerpoint/2010/main" val="4872365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898EE61-7A5B-40D8-B767-29F030E0E9B4}"/>
              </a:ext>
            </a:extLst>
          </p:cNvPr>
          <p:cNvSpPr>
            <a:spLocks noGrp="1"/>
          </p:cNvSpPr>
          <p:nvPr/>
        </p:nvSpPr>
        <p:spPr>
          <a:xfrm>
            <a:off x="628650" y="342900"/>
            <a:ext cx="1085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700" b="1">
                <a:solidFill>
                  <a:srgbClr val="10283A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0283A"/>
                </a:solidFill>
                <a:latin typeface="DejaVu Sans"/>
                <a:ea typeface="DejaVu Sans"/>
                <a:cs typeface="DejaVu Sans"/>
              </a:rPr>
              <a:t>Solution process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005667D-1C1A-4711-91FF-A71B22E884C6}"/>
              </a:ext>
            </a:extLst>
          </p:cNvPr>
          <p:cNvSpPr>
            <a:spLocks noGrp="1"/>
          </p:cNvSpPr>
          <p:nvPr/>
        </p:nvSpPr>
        <p:spPr>
          <a:xfrm>
            <a:off x="657225" y="1038225"/>
            <a:ext cx="10620375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75" b="0">
                <a:solidFill>
                  <a:srgbClr val="5267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26777"/>
                </a:solidFill>
                <a:latin typeface="DejaVu Sans"/>
                <a:ea typeface="DejaVu Sans"/>
                <a:cs typeface="DejaVu Sans"/>
              </a:rPr>
              <a:t>Exact MILP formulation; reported schedules are time-limited feasible incumbents</a:t>
            </a:r>
          </a:p>
        </p:txBody>
      </p:sp>
      <p:graphicFrame>
        <p:nvGraphicFramePr>
          <p:cNvPr id="10" name="Table 9"/>
          <p:cNvGraphicFramePr/>
          <p:nvPr/>
        </p:nvGraphicFramePr>
        <p:xfrm>
          <a:off x="685800" y="1752600"/>
          <a:ext cx="10820400" cy="2571752"/>
        </p:xfrm>
        <a:graphic>
          <a:graphicData uri="http://schemas.openxmlformats.org/drawingml/2006/table">
            <a:tbl>
              <a:tblPr/>
              <a:tblGrid>
                <a:gridCol w="360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293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Stage</a:t>
                      </a:r>
                    </a:p>
                  </a:txBody>
                  <a:tcPr>
                    <a:solidFill>
                      <a:srgbClr val="10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Policy</a:t>
                      </a:r>
                    </a:p>
                  </a:txBody>
                  <a:tcPr>
                    <a:solidFill>
                      <a:srgbClr val="10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Solver quality</a:t>
                      </a:r>
                    </a:p>
                  </a:txBody>
                  <a:tcPr>
                    <a:solidFill>
                      <a:srgbClr val="1028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2938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Fixed blocks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Same case selection model; y fixed to the baseline template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Score 583.08; gap 0.83%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2938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Flexible blocks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Joint specialty block and case assignment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Score 592.64; gap 4.57%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2938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Risk evaluation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3,000 paired duration replications, gamma CV 0.25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Out-of-sample simulation; no optimization on replications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C30A6BBE-972D-4271-AFA8-B363F6F5BEAD}"/>
              </a:ext>
            </a:extLst>
          </p:cNvPr>
          <p:cNvSpPr>
            <a:spLocks noGrp="1"/>
          </p:cNvSpPr>
          <p:nvPr/>
        </p:nvSpPr>
        <p:spPr>
          <a:xfrm>
            <a:off x="742950" y="4733925"/>
            <a:ext cx="106680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0">
                <a:solidFill>
                  <a:srgbClr val="172C3D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72C3D"/>
                </a:solidFill>
                <a:latin typeface="DejaVu Sans"/>
                <a:ea typeface="DejaVu Sans"/>
                <a:cs typeface="DejaVu Sans"/>
              </a:rPr>
              <a:t>The reported gap bounds how far the incumbent might be from the solver’s best bound. It does not invalidate feasibility.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17D4A6-EE39-4DAC-B4A0-43389F7D230E}"/>
              </a:ext>
            </a:extLst>
          </p:cNvPr>
          <p:cNvSpPr>
            <a:spLocks noGrp="1"/>
          </p:cNvSpPr>
          <p:nvPr/>
        </p:nvSpPr>
        <p:spPr>
          <a:xfrm>
            <a:off x="742950" y="5229225"/>
            <a:ext cx="106680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0">
                <a:solidFill>
                  <a:srgbClr val="172C3D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72C3D"/>
                </a:solidFill>
                <a:latin typeface="DejaVu Sans"/>
                <a:ea typeface="DejaVu Sans"/>
                <a:cs typeface="DejaVu Sans"/>
              </a:rPr>
              <a:t>A longer run could improve the flexible result; the shown gain is a gain between the two feasible schedules.</a:t>
            </a:r>
          </a:p>
        </p:txBody>
      </p:sp>
    </p:spTree>
    <p:extLst>
      <p:ext uri="{BB962C8B-B14F-4D97-AF65-F5344CB8AC3E}">
        <p14:creationId xmlns:p14="http://schemas.microsoft.com/office/powerpoint/2010/main" val="18536211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49D8EC1-721F-4AA6-8A1F-ED3A094BC4D0}"/>
              </a:ext>
            </a:extLst>
          </p:cNvPr>
          <p:cNvSpPr>
            <a:spLocks noGrp="1"/>
          </p:cNvSpPr>
          <p:nvPr/>
        </p:nvSpPr>
        <p:spPr>
          <a:xfrm>
            <a:off x="628650" y="342900"/>
            <a:ext cx="1085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700" b="1">
                <a:solidFill>
                  <a:srgbClr val="10283A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0283A"/>
                </a:solidFill>
                <a:latin typeface="DejaVu Sans"/>
                <a:ea typeface="DejaVu Sans"/>
                <a:cs typeface="DejaVu Sans"/>
              </a:rPr>
              <a:t>Scheduling results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43AFD7-3FDF-4A48-B606-6DB732475284}"/>
              </a:ext>
            </a:extLst>
          </p:cNvPr>
          <p:cNvSpPr>
            <a:spLocks noGrp="1"/>
          </p:cNvSpPr>
          <p:nvPr/>
        </p:nvSpPr>
        <p:spPr>
          <a:xfrm>
            <a:off x="657225" y="1038225"/>
            <a:ext cx="10620375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75" b="0">
                <a:solidFill>
                  <a:srgbClr val="5267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26777"/>
                </a:solidFill>
                <a:latin typeface="DejaVu Sans"/>
                <a:ea typeface="DejaVu Sans"/>
                <a:cs typeface="DejaVu Sans"/>
              </a:rPr>
              <a:t>Same 420-minute booking cap and the same 90-case queue</a:t>
            </a:r>
          </a:p>
        </p:txBody>
      </p:sp>
      <p:graphicFrame>
        <p:nvGraphicFramePr>
          <p:cNvPr id="9" name="Table 8"/>
          <p:cNvGraphicFramePr/>
          <p:nvPr/>
        </p:nvGraphicFramePr>
        <p:xfrm>
          <a:off x="685800" y="1485900"/>
          <a:ext cx="10820400" cy="4210052"/>
        </p:xfrm>
        <a:graphic>
          <a:graphicData uri="http://schemas.openxmlformats.org/drawingml/2006/table">
            <a:tbl>
              <a:tblPr/>
              <a:tblGrid>
                <a:gridCol w="2705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143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Measure</a:t>
                      </a:r>
                    </a:p>
                  </a:txBody>
                  <a:tcPr>
                    <a:solidFill>
                      <a:srgbClr val="10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Fixed blocks</a:t>
                      </a:r>
                    </a:p>
                  </a:txBody>
                  <a:tcPr>
                    <a:solidFill>
                      <a:srgbClr val="10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Flexible blocks</a:t>
                      </a:r>
                    </a:p>
                  </a:txBody>
                  <a:tcPr>
                    <a:solidFill>
                      <a:srgbClr val="10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Difference</a:t>
                      </a:r>
                    </a:p>
                  </a:txBody>
                  <a:tcPr>
                    <a:solidFill>
                      <a:srgbClr val="1028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1436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Elective cases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1436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Priority 1 cases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23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23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1436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Priority 2 cases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+4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1436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Priority 3 cases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12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-4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1436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Priority 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583.08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592.64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+9.56 (1.6%)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1436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Booked hours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165.3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160.3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-4.9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22FF26D7-6200-431E-B4AA-4815735847CF}"/>
              </a:ext>
            </a:extLst>
          </p:cNvPr>
          <p:cNvSpPr>
            <a:spLocks noGrp="1"/>
          </p:cNvSpPr>
          <p:nvPr/>
        </p:nvSpPr>
        <p:spPr>
          <a:xfrm>
            <a:off x="723900" y="5915025"/>
            <a:ext cx="1071562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125" b="0">
                <a:solidFill>
                  <a:srgbClr val="5267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777"/>
                </a:solidFill>
                <a:latin typeface="DejaVu Sans"/>
                <a:ea typeface="DejaVu Sans"/>
                <a:cs typeface="DejaVu Sans"/>
              </a:rPr>
              <a:t>The priority score is model-defined; a case-mix change should undergo clinical review before use.</a:t>
            </a:r>
          </a:p>
        </p:txBody>
      </p:sp>
    </p:spTree>
    <p:extLst>
      <p:ext uri="{BB962C8B-B14F-4D97-AF65-F5344CB8AC3E}">
        <p14:creationId xmlns:p14="http://schemas.microsoft.com/office/powerpoint/2010/main" val="3490149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BD3FBEF-E07F-4F06-A0DE-14FCE08052A0}"/>
              </a:ext>
            </a:extLst>
          </p:cNvPr>
          <p:cNvSpPr>
            <a:spLocks noGrp="1"/>
          </p:cNvSpPr>
          <p:nvPr/>
        </p:nvSpPr>
        <p:spPr>
          <a:xfrm>
            <a:off x="628650" y="342900"/>
            <a:ext cx="1085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700" b="1">
                <a:solidFill>
                  <a:srgbClr val="10283A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0283A"/>
                </a:solidFill>
                <a:latin typeface="DejaVu Sans"/>
                <a:ea typeface="DejaVu Sans"/>
                <a:cs typeface="DejaVu Sans"/>
              </a:rPr>
              <a:t>Specialty allocation shifts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95CAFAE-6EB3-428E-A508-2099DF088B68}"/>
              </a:ext>
            </a:extLst>
          </p:cNvPr>
          <p:cNvSpPr>
            <a:spLocks noGrp="1"/>
          </p:cNvSpPr>
          <p:nvPr/>
        </p:nvSpPr>
        <p:spPr>
          <a:xfrm>
            <a:off x="657225" y="1038225"/>
            <a:ext cx="10620375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75" b="0">
                <a:solidFill>
                  <a:srgbClr val="5267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26777"/>
                </a:solidFill>
                <a:latin typeface="DejaVu Sans"/>
                <a:ea typeface="DejaVu Sans"/>
                <a:cs typeface="DejaVu Sans"/>
              </a:rPr>
              <a:t>Number of cases selected in each policy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="742950" y="1457325"/>
          <a:ext cx="10382250" cy="4429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28FCC588-118B-4624-B0B6-9BA50A173A2D}"/>
              </a:ext>
            </a:extLst>
          </p:cNvPr>
          <p:cNvSpPr>
            <a:spLocks noGrp="1"/>
          </p:cNvSpPr>
          <p:nvPr/>
        </p:nvSpPr>
        <p:spPr>
          <a:xfrm>
            <a:off x="723900" y="5972175"/>
            <a:ext cx="1071562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125" b="0">
                <a:solidFill>
                  <a:srgbClr val="5267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777"/>
                </a:solidFill>
                <a:latin typeface="DejaVu Sans"/>
                <a:ea typeface="DejaVu Sans"/>
                <a:cs typeface="DejaVu Sans"/>
              </a:rPr>
              <a:t>ENT rises from 6 to 12; orthopedics falls from 11 to its protected floor of 7.</a:t>
            </a:r>
          </a:p>
        </p:txBody>
      </p:sp>
    </p:spTree>
    <p:extLst>
      <p:ext uri="{BB962C8B-B14F-4D97-AF65-F5344CB8AC3E}">
        <p14:creationId xmlns:p14="http://schemas.microsoft.com/office/powerpoint/2010/main" val="2305635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27A3856-8A33-4273-BCC8-6BE245A642A9}"/>
              </a:ext>
            </a:extLst>
          </p:cNvPr>
          <p:cNvSpPr>
            <a:spLocks noGrp="1"/>
          </p:cNvSpPr>
          <p:nvPr/>
        </p:nvSpPr>
        <p:spPr>
          <a:xfrm>
            <a:off x="628650" y="342900"/>
            <a:ext cx="1085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700" b="1">
                <a:solidFill>
                  <a:srgbClr val="10283A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0283A"/>
                </a:solidFill>
                <a:latin typeface="DejaVu Sans"/>
                <a:ea typeface="DejaVu Sans"/>
                <a:cs typeface="DejaVu Sans"/>
              </a:rPr>
              <a:t>Priority and queue selection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1FDB2BB-2DBC-4DC6-9944-877097CFE870}"/>
              </a:ext>
            </a:extLst>
          </p:cNvPr>
          <p:cNvSpPr>
            <a:spLocks noGrp="1"/>
          </p:cNvSpPr>
          <p:nvPr/>
        </p:nvSpPr>
        <p:spPr>
          <a:xfrm>
            <a:off x="657225" y="1038225"/>
            <a:ext cx="10620375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75" b="0">
                <a:solidFill>
                  <a:srgbClr val="5267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26777"/>
                </a:solidFill>
                <a:latin typeface="DejaVu Sans"/>
                <a:ea typeface="DejaVu Sans"/>
                <a:cs typeface="DejaVu Sans"/>
              </a:rPr>
              <a:t>The same total throughput masks a different patient mix</a:t>
            </a:r>
          </a:p>
        </p:txBody>
      </p:sp>
      <p:graphicFrame>
        <p:nvGraphicFramePr>
          <p:cNvPr id="10" name="Table 9"/>
          <p:cNvGraphicFramePr/>
          <p:nvPr/>
        </p:nvGraphicFramePr>
        <p:xfrm>
          <a:off x="685800" y="1704975"/>
          <a:ext cx="10820400" cy="2971800"/>
        </p:xfrm>
        <a:graphic>
          <a:graphicData uri="http://schemas.openxmlformats.org/drawingml/2006/table">
            <a:tbl>
              <a:tblPr/>
              <a:tblGrid>
                <a:gridCol w="2164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4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4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4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64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Priority band</a:t>
                      </a:r>
                    </a:p>
                  </a:txBody>
                  <a:tcPr>
                    <a:solidFill>
                      <a:srgbClr val="10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Queued</a:t>
                      </a:r>
                    </a:p>
                  </a:txBody>
                  <a:tcPr>
                    <a:solidFill>
                      <a:srgbClr val="10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Fixed blocks</a:t>
                      </a:r>
                    </a:p>
                  </a:txBody>
                  <a:tcPr>
                    <a:solidFill>
                      <a:srgbClr val="10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Flexible blocks</a:t>
                      </a:r>
                    </a:p>
                  </a:txBody>
                  <a:tcPr>
                    <a:solidFill>
                      <a:srgbClr val="10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Flexible coverage</a:t>
                      </a:r>
                    </a:p>
                  </a:txBody>
                  <a:tcPr>
                    <a:solidFill>
                      <a:srgbClr val="1028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 · highest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 · medium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36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29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33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92%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 · routine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ALL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90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64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64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71%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FE843BF5-DD7E-42D8-B9AE-DF3241BF44BA}"/>
              </a:ext>
            </a:extLst>
          </p:cNvPr>
          <p:cNvSpPr>
            <a:spLocks noGrp="1"/>
          </p:cNvSpPr>
          <p:nvPr/>
        </p:nvSpPr>
        <p:spPr>
          <a:xfrm>
            <a:off x="742950" y="4981575"/>
            <a:ext cx="106680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0">
                <a:solidFill>
                  <a:srgbClr val="172C3D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72C3D"/>
                </a:solidFill>
                <a:latin typeface="DejaVu Sans"/>
                <a:ea typeface="DejaVu Sans"/>
                <a:cs typeface="DejaVu Sans"/>
              </a:rPr>
              <a:t>Four more medium-priority cases enter the flexible schedule; four fewer routine cases enter.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B633D5-0D64-443A-9A8D-FC54F4C60FB6}"/>
              </a:ext>
            </a:extLst>
          </p:cNvPr>
          <p:cNvSpPr>
            <a:spLocks noGrp="1"/>
          </p:cNvSpPr>
          <p:nvPr/>
        </p:nvSpPr>
        <p:spPr>
          <a:xfrm>
            <a:off x="742950" y="5467350"/>
            <a:ext cx="106680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0">
                <a:solidFill>
                  <a:srgbClr val="172C3D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72C3D"/>
                </a:solidFill>
                <a:latin typeface="DejaVu Sans"/>
                <a:ea typeface="DejaVu Sans"/>
                <a:cs typeface="DejaVu Sans"/>
              </a:rPr>
              <a:t>The weight choices drive this exchange. A hospital should approve the weights and inspect every displaced case.</a:t>
            </a:r>
          </a:p>
        </p:txBody>
      </p:sp>
    </p:spTree>
    <p:extLst>
      <p:ext uri="{BB962C8B-B14F-4D97-AF65-F5344CB8AC3E}">
        <p14:creationId xmlns:p14="http://schemas.microsoft.com/office/powerpoint/2010/main" val="2542622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5336348-E461-4B68-A1BB-3FEF3990EE79}"/>
              </a:ext>
            </a:extLst>
          </p:cNvPr>
          <p:cNvSpPr>
            <a:spLocks noGrp="1"/>
          </p:cNvSpPr>
          <p:nvPr/>
        </p:nvSpPr>
        <p:spPr>
          <a:xfrm>
            <a:off x="628650" y="342900"/>
            <a:ext cx="1085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700" b="1">
                <a:solidFill>
                  <a:srgbClr val="10283A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0283A"/>
                </a:solidFill>
                <a:latin typeface="DejaVu Sans"/>
                <a:ea typeface="DejaVu Sans"/>
                <a:cs typeface="DejaVu Sans"/>
              </a:rPr>
              <a:t>Flexible five-day block plan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EFD1893-0FF1-4210-A797-6BE842507DA9}"/>
              </a:ext>
            </a:extLst>
          </p:cNvPr>
          <p:cNvSpPr>
            <a:spLocks noGrp="1"/>
          </p:cNvSpPr>
          <p:nvPr/>
        </p:nvSpPr>
        <p:spPr>
          <a:xfrm>
            <a:off x="657225" y="1038225"/>
            <a:ext cx="10620375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75" b="0">
                <a:solidFill>
                  <a:srgbClr val="5267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26777"/>
                </a:solidFill>
                <a:latin typeface="DejaVu Sans"/>
                <a:ea typeface="DejaVu Sans"/>
                <a:cs typeface="DejaVu Sans"/>
              </a:rPr>
              <a:t>Each cell reports specialty and planned occupied minutes</a:t>
            </a:r>
          </a:p>
        </p:txBody>
      </p:sp>
      <p:graphicFrame>
        <p:nvGraphicFramePr>
          <p:cNvPr id="9" name="Table 8"/>
          <p:cNvGraphicFramePr/>
          <p:nvPr/>
        </p:nvGraphicFramePr>
        <p:xfrm>
          <a:off x="685800" y="1781175"/>
          <a:ext cx="10820400" cy="3095624"/>
        </p:xfrm>
        <a:graphic>
          <a:graphicData uri="http://schemas.openxmlformats.org/drawingml/2006/table">
            <a:tbl>
              <a:tblPr/>
              <a:tblGrid>
                <a:gridCol w="180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3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3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03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42232"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Room</a:t>
                      </a:r>
                    </a:p>
                  </a:txBody>
                  <a:tcPr>
                    <a:solidFill>
                      <a:srgbClr val="10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Mon</a:t>
                      </a:r>
                    </a:p>
                  </a:txBody>
                  <a:tcPr>
                    <a:solidFill>
                      <a:srgbClr val="10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Tue</a:t>
                      </a:r>
                    </a:p>
                  </a:txBody>
                  <a:tcPr>
                    <a:solidFill>
                      <a:srgbClr val="10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Wed</a:t>
                      </a:r>
                    </a:p>
                  </a:txBody>
                  <a:tcPr>
                    <a:solidFill>
                      <a:srgbClr val="10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Thu</a:t>
                      </a:r>
                    </a:p>
                  </a:txBody>
                  <a:tcPr>
                    <a:solidFill>
                      <a:srgbClr val="10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Fri</a:t>
                      </a:r>
                    </a:p>
                  </a:txBody>
                  <a:tcPr>
                    <a:solidFill>
                      <a:srgbClr val="1028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2232">
                <a:tc>
                  <a:txBody>
                    <a:bodyPr/>
                    <a:lstStyle/>
                    <a:p>
                      <a:r>
                        <a:rPr sz="123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GEN  290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ENT  360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GEN  390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ENT  395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URO  350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2232">
                <a:tc>
                  <a:txBody>
                    <a:bodyPr/>
                    <a:lstStyle/>
                    <a:p>
                      <a:r>
                        <a:rPr sz="123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R2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URO  315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URO  360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URO  410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URO  350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GEN  420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2232">
                <a:tc>
                  <a:txBody>
                    <a:bodyPr/>
                    <a:lstStyle/>
                    <a:p>
                      <a:r>
                        <a:rPr sz="123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GEN  415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ORTH  415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ORTH  355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GEN  380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ORTH  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2232">
                <a:tc>
                  <a:txBody>
                    <a:bodyPr/>
                    <a:lstStyle/>
                    <a:p>
                      <a:r>
                        <a:rPr sz="123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R4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OBG  405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OBG  420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GEN  415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OBG  400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OBG  415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2232">
                <a:tc>
                  <a:txBody>
                    <a:bodyPr/>
                    <a:lstStyle/>
                    <a:p>
                      <a:r>
                        <a:rPr sz="123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NEURO  390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NEURO  385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ENT  385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NEURO  380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ENT  420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2232">
                <a:tc>
                  <a:txBody>
                    <a:bodyPr/>
                    <a:lstStyle/>
                    <a:p>
                      <a:r>
                        <a:rPr sz="123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R6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Emergency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Emergency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Emergency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Emergency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Emergency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BA8BB015-E623-4567-ADCA-3BE9F5D5707D}"/>
              </a:ext>
            </a:extLst>
          </p:cNvPr>
          <p:cNvSpPr>
            <a:spLocks noGrp="1"/>
          </p:cNvSpPr>
          <p:nvPr/>
        </p:nvSpPr>
        <p:spPr>
          <a:xfrm>
            <a:off x="723900" y="5334000"/>
            <a:ext cx="1071562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125" b="0">
                <a:solidFill>
                  <a:srgbClr val="5267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777"/>
                </a:solidFill>
                <a:latin typeface="DejaVu Sans"/>
                <a:ea typeface="DejaVu Sans"/>
                <a:cs typeface="DejaVu Sans"/>
              </a:rPr>
              <a:t>Illustrative booking cap 420 min; regular shift 480 min. Start times and intra-block sequencing are outside this model.</a:t>
            </a:r>
          </a:p>
        </p:txBody>
      </p:sp>
    </p:spTree>
    <p:extLst>
      <p:ext uri="{BB962C8B-B14F-4D97-AF65-F5344CB8AC3E}">
        <p14:creationId xmlns:p14="http://schemas.microsoft.com/office/powerpoint/2010/main" val="21048893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0CD5C68-D423-4076-8DF4-E03F8672D9A5}"/>
              </a:ext>
            </a:extLst>
          </p:cNvPr>
          <p:cNvSpPr>
            <a:spLocks noGrp="1"/>
          </p:cNvSpPr>
          <p:nvPr/>
        </p:nvSpPr>
        <p:spPr>
          <a:xfrm>
            <a:off x="628650" y="342900"/>
            <a:ext cx="1085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700" b="1">
                <a:solidFill>
                  <a:srgbClr val="10283A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0283A"/>
                </a:solidFill>
                <a:latin typeface="DejaVu Sans"/>
                <a:ea typeface="DejaVu Sans"/>
                <a:cs typeface="DejaVu Sans"/>
              </a:rPr>
              <a:t>Daily throughput and bed starts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A1C5A48-0B99-43E7-97E9-FD81C9E0E3DF}"/>
              </a:ext>
            </a:extLst>
          </p:cNvPr>
          <p:cNvSpPr>
            <a:spLocks noGrp="1"/>
          </p:cNvSpPr>
          <p:nvPr/>
        </p:nvSpPr>
        <p:spPr>
          <a:xfrm>
            <a:off x="657225" y="1038225"/>
            <a:ext cx="10620375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75" b="0">
                <a:solidFill>
                  <a:srgbClr val="5267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26777"/>
                </a:solidFill>
                <a:latin typeface="DejaVu Sans"/>
                <a:ea typeface="DejaVu Sans"/>
                <a:cs typeface="DejaVu Sans"/>
              </a:rPr>
              <a:t>Postoperative bed starts stay within the synthetic limit of 11 per day</a:t>
            </a:r>
          </a:p>
        </p:txBody>
      </p:sp>
      <p:graphicFrame>
        <p:nvGraphicFramePr>
          <p:cNvPr id="9" name="Table 8"/>
          <p:cNvGraphicFramePr/>
          <p:nvPr/>
        </p:nvGraphicFramePr>
        <p:xfrm>
          <a:off x="685800" y="1819275"/>
          <a:ext cx="10820400" cy="3276602"/>
        </p:xfrm>
        <a:graphic>
          <a:graphicData uri="http://schemas.openxmlformats.org/drawingml/2006/table">
            <a:tbl>
              <a:tblPr/>
              <a:tblGrid>
                <a:gridCol w="180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3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3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03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6808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Day</a:t>
                      </a:r>
                    </a:p>
                  </a:txBody>
                  <a:tcPr>
                    <a:solidFill>
                      <a:srgbClr val="10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Fixed cases</a:t>
                      </a:r>
                    </a:p>
                  </a:txBody>
                  <a:tcPr>
                    <a:solidFill>
                      <a:srgbClr val="10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Flexible cases</a:t>
                      </a:r>
                    </a:p>
                  </a:txBody>
                  <a:tcPr>
                    <a:solidFill>
                      <a:srgbClr val="10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Fixed bed starts</a:t>
                      </a:r>
                    </a:p>
                  </a:txBody>
                  <a:tcPr>
                    <a:solidFill>
                      <a:srgbClr val="10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Flexible bed starts</a:t>
                      </a:r>
                    </a:p>
                  </a:txBody>
                  <a:tcPr>
                    <a:solidFill>
                      <a:srgbClr val="10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Flexible booked hours</a:t>
                      </a:r>
                    </a:p>
                  </a:txBody>
                  <a:tcPr>
                    <a:solidFill>
                      <a:srgbClr val="1028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086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Monday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30.3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086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Tuesday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15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13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32.3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086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Wednesday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32.6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8086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Thursday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13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13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31.8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8086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Friday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33.4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8086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TOTAL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64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64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41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40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160.3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E80558D7-7876-4E81-B8F7-52F92867B0FD}"/>
              </a:ext>
            </a:extLst>
          </p:cNvPr>
          <p:cNvSpPr>
            <a:spLocks noGrp="1"/>
          </p:cNvSpPr>
          <p:nvPr/>
        </p:nvSpPr>
        <p:spPr>
          <a:xfrm>
            <a:off x="723900" y="5448300"/>
            <a:ext cx="1071562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125" b="0">
                <a:solidFill>
                  <a:srgbClr val="5267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777"/>
                </a:solidFill>
                <a:latin typeface="DejaVu Sans"/>
                <a:ea typeface="DejaVu Sans"/>
                <a:cs typeface="DejaVu Sans"/>
              </a:rPr>
              <a:t>“Bed starts” counts cases flagged for postoperative admission; it is a daily flow limit, not simultaneous census.</a:t>
            </a:r>
          </a:p>
        </p:txBody>
      </p:sp>
    </p:spTree>
    <p:extLst>
      <p:ext uri="{BB962C8B-B14F-4D97-AF65-F5344CB8AC3E}">
        <p14:creationId xmlns:p14="http://schemas.microsoft.com/office/powerpoint/2010/main" val="18043062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BBC6E47-EA11-41F2-B88B-7286FA0CC620}"/>
              </a:ext>
            </a:extLst>
          </p:cNvPr>
          <p:cNvSpPr>
            <a:spLocks noGrp="1"/>
          </p:cNvSpPr>
          <p:nvPr/>
        </p:nvSpPr>
        <p:spPr>
          <a:xfrm>
            <a:off x="628650" y="342900"/>
            <a:ext cx="1085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700" b="1">
                <a:solidFill>
                  <a:srgbClr val="10283A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0283A"/>
                </a:solidFill>
                <a:latin typeface="DejaVu Sans"/>
                <a:ea typeface="DejaVu Sans"/>
                <a:cs typeface="DejaVu Sans"/>
              </a:rPr>
              <a:t>Duration uncertainty model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C4B3E18-FE38-4A1E-9B08-D36D9DFC42DA}"/>
              </a:ext>
            </a:extLst>
          </p:cNvPr>
          <p:cNvSpPr>
            <a:spLocks noGrp="1"/>
          </p:cNvSpPr>
          <p:nvPr/>
        </p:nvSpPr>
        <p:spPr>
          <a:xfrm>
            <a:off x="657225" y="1038225"/>
            <a:ext cx="10620375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75" b="0">
                <a:solidFill>
                  <a:srgbClr val="5267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26777"/>
                </a:solidFill>
                <a:latin typeface="DejaVu Sans"/>
                <a:ea typeface="DejaVu Sans"/>
                <a:cs typeface="DejaVu Sans"/>
              </a:rPr>
              <a:t>Monte Carlo assessment uses one shared random duration for a case in each paired replication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DF73F65-2BBF-49BF-B051-FBC3EC2C83A4}"/>
              </a:ext>
            </a:extLst>
          </p:cNvPr>
          <p:cNvSpPr>
            <a:spLocks noGrp="1"/>
          </p:cNvSpPr>
          <p:nvPr/>
        </p:nvSpPr>
        <p:spPr>
          <a:xfrm>
            <a:off x="742950" y="1657350"/>
            <a:ext cx="10668000" cy="885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650" b="0">
                <a:solidFill>
                  <a:srgbClr val="172C3D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72C3D"/>
                </a:solidFill>
                <a:latin typeface="DejaVu Sans"/>
                <a:ea typeface="DejaVu Sans"/>
                <a:cs typeface="DejaVu Sans"/>
              </a:rPr>
              <a:t>Procedure duration:  Tᵢ ~ Gamma(k, θᵢ), with E[Tᵢ]=tᵢ and CV(Tᵢ)=0.25.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8FEF00-3FD8-4BC5-B144-A999131CC10A}"/>
              </a:ext>
            </a:extLst>
          </p:cNvPr>
          <p:cNvSpPr>
            <a:spLocks noGrp="1"/>
          </p:cNvSpPr>
          <p:nvPr/>
        </p:nvSpPr>
        <p:spPr>
          <a:xfrm>
            <a:off x="742950" y="2600325"/>
            <a:ext cx="10668000" cy="885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650" b="0">
                <a:solidFill>
                  <a:srgbClr val="172C3D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72C3D"/>
                </a:solidFill>
                <a:latin typeface="DejaVu Sans"/>
                <a:ea typeface="DejaVu Sans"/>
                <a:cs typeface="DejaVu Sans"/>
              </a:rPr>
              <a:t>For CV = 0.25:  k = 1/CV² = 16,    θᵢ = tᵢ/16.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8A1ECE-181E-494E-A9A4-7AC70CF7AD47}"/>
              </a:ext>
            </a:extLst>
          </p:cNvPr>
          <p:cNvSpPr>
            <a:spLocks noGrp="1"/>
          </p:cNvSpPr>
          <p:nvPr/>
        </p:nvSpPr>
        <p:spPr>
          <a:xfrm>
            <a:off x="742950" y="3543300"/>
            <a:ext cx="10668000" cy="885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650" b="0">
                <a:solidFill>
                  <a:srgbClr val="172C3D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72C3D"/>
                </a:solidFill>
                <a:latin typeface="DejaVu Sans"/>
                <a:ea typeface="DejaVu Sans"/>
                <a:cs typeface="DejaVu Sans"/>
              </a:rPr>
              <a:t>Room-day finish time:  Fᵣd = Σᵢ∈(r,d) Tᵢ + 25 × nᵣd.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7CFB45-1E91-4558-9541-01A08180BEDD}"/>
              </a:ext>
            </a:extLst>
          </p:cNvPr>
          <p:cNvSpPr>
            <a:spLocks noGrp="1"/>
          </p:cNvSpPr>
          <p:nvPr/>
        </p:nvSpPr>
        <p:spPr>
          <a:xfrm>
            <a:off x="742950" y="4486275"/>
            <a:ext cx="10668000" cy="885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650" b="0">
                <a:solidFill>
                  <a:srgbClr val="172C3D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72C3D"/>
                </a:solidFill>
                <a:latin typeface="DejaVu Sans"/>
                <a:ea typeface="DejaVu Sans"/>
                <a:cs typeface="DejaVu Sans"/>
              </a:rPr>
              <a:t>Weekly elective overtime:  O = Σᵣ Σd max(0, Fᵣd − 480)/60 hours.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436639D-47F8-43CB-979F-069D5F379524}"/>
              </a:ext>
            </a:extLst>
          </p:cNvPr>
          <p:cNvSpPr>
            <a:spLocks noGrp="1"/>
          </p:cNvSpPr>
          <p:nvPr/>
        </p:nvSpPr>
        <p:spPr>
          <a:xfrm>
            <a:off x="723900" y="5972175"/>
            <a:ext cx="1071562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125" b="0">
                <a:solidFill>
                  <a:srgbClr val="5267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777"/>
                </a:solidFill>
                <a:latin typeface="DejaVu Sans"/>
                <a:ea typeface="DejaVu Sans"/>
                <a:cs typeface="DejaVu Sans"/>
              </a:rPr>
              <a:t>3,000 independent synthetic weeks; CV and gamma distribution are assumptions requiring calibration.</a:t>
            </a:r>
          </a:p>
        </p:txBody>
      </p:sp>
    </p:spTree>
    <p:extLst>
      <p:ext uri="{BB962C8B-B14F-4D97-AF65-F5344CB8AC3E}">
        <p14:creationId xmlns:p14="http://schemas.microsoft.com/office/powerpoint/2010/main" val="18002864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0F322AF-2A99-4885-A108-90D03EEB713D}"/>
              </a:ext>
            </a:extLst>
          </p:cNvPr>
          <p:cNvSpPr>
            <a:spLocks noGrp="1"/>
          </p:cNvSpPr>
          <p:nvPr/>
        </p:nvSpPr>
        <p:spPr>
          <a:xfrm>
            <a:off x="628650" y="342900"/>
            <a:ext cx="1085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700" b="1">
                <a:solidFill>
                  <a:srgbClr val="10283A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0283A"/>
                </a:solidFill>
                <a:latin typeface="DejaVu Sans"/>
                <a:ea typeface="DejaVu Sans"/>
                <a:cs typeface="DejaVu Sans"/>
              </a:rPr>
              <a:t>Simulated elective overtime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DF42703-D247-47C8-8920-4A60603B7A52}"/>
              </a:ext>
            </a:extLst>
          </p:cNvPr>
          <p:cNvSpPr>
            <a:spLocks noGrp="1"/>
          </p:cNvSpPr>
          <p:nvPr/>
        </p:nvSpPr>
        <p:spPr>
          <a:xfrm>
            <a:off x="657225" y="1038225"/>
            <a:ext cx="10620375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75" b="0">
                <a:solidFill>
                  <a:srgbClr val="5267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26777"/>
                </a:solidFill>
                <a:latin typeface="DejaVu Sans"/>
                <a:ea typeface="DejaVu Sans"/>
                <a:cs typeface="DejaVu Sans"/>
              </a:rPr>
              <a:t>Duration uncertainty differs from the deterministic booking constraint</a:t>
            </a:r>
          </a:p>
        </p:txBody>
      </p:sp>
      <p:graphicFrame>
        <p:nvGraphicFramePr>
          <p:cNvPr id="9" name="Table 8"/>
          <p:cNvGraphicFramePr/>
          <p:nvPr/>
        </p:nvGraphicFramePr>
        <p:xfrm>
          <a:off x="685800" y="1695450"/>
          <a:ext cx="10820400" cy="3686178"/>
        </p:xfrm>
        <a:graphic>
          <a:graphicData uri="http://schemas.openxmlformats.org/drawingml/2006/table">
            <a:tbl>
              <a:tblPr/>
              <a:tblGrid>
                <a:gridCol w="360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436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Metric over 3,000 synthetic weeks</a:t>
                      </a:r>
                    </a:p>
                  </a:txBody>
                  <a:tcPr>
                    <a:solidFill>
                      <a:srgbClr val="10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Fixed blocks</a:t>
                      </a:r>
                    </a:p>
                  </a:txBody>
                  <a:tcPr>
                    <a:solidFill>
                      <a:srgbClr val="10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Flexible blocks</a:t>
                      </a:r>
                    </a:p>
                  </a:txBody>
                  <a:tcPr>
                    <a:solidFill>
                      <a:srgbClr val="1028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4363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Mean overtime / week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1.12 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0.78 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4363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90th percentile overtime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2.50 h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1.89 h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4363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Overtime room-days / week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1.58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4363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Share of room-days with overtime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8.5%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6.3%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4363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Chance of any overtime in a week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89.0%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80.4%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5F91101F-3A71-42A2-8AB2-4995836BA3C4}"/>
              </a:ext>
            </a:extLst>
          </p:cNvPr>
          <p:cNvSpPr>
            <a:spLocks noGrp="1"/>
          </p:cNvSpPr>
          <p:nvPr/>
        </p:nvSpPr>
        <p:spPr>
          <a:xfrm>
            <a:off x="723900" y="5753100"/>
            <a:ext cx="1071562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125" b="0">
                <a:solidFill>
                  <a:srgbClr val="5267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777"/>
                </a:solidFill>
                <a:latin typeface="DejaVu Sans"/>
                <a:ea typeface="DejaVu Sans"/>
                <a:cs typeface="DejaVu Sans"/>
              </a:rPr>
              <a:t>The 0.34 h/week difference is conditional on this cohort, booking policies and CV=0.25; it is not a hospital estimate.</a:t>
            </a:r>
          </a:p>
        </p:txBody>
      </p:sp>
    </p:spTree>
    <p:extLst>
      <p:ext uri="{BB962C8B-B14F-4D97-AF65-F5344CB8AC3E}">
        <p14:creationId xmlns:p14="http://schemas.microsoft.com/office/powerpoint/2010/main" val="17716113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1AE0C39-32A9-406A-8821-3EF749281A75}"/>
              </a:ext>
            </a:extLst>
          </p:cNvPr>
          <p:cNvSpPr>
            <a:spLocks noGrp="1"/>
          </p:cNvSpPr>
          <p:nvPr/>
        </p:nvSpPr>
        <p:spPr>
          <a:xfrm>
            <a:off x="628650" y="342900"/>
            <a:ext cx="1085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700" b="1">
                <a:solidFill>
                  <a:srgbClr val="10283A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0283A"/>
                </a:solidFill>
                <a:latin typeface="DejaVu Sans"/>
                <a:ea typeface="DejaVu Sans"/>
                <a:cs typeface="DejaVu Sans"/>
              </a:rPr>
              <a:t>Booking margin sensitivity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F0EDBA8-CC25-469B-9E03-57E1279B79F6}"/>
              </a:ext>
            </a:extLst>
          </p:cNvPr>
          <p:cNvSpPr>
            <a:spLocks noGrp="1"/>
          </p:cNvSpPr>
          <p:nvPr/>
        </p:nvSpPr>
        <p:spPr>
          <a:xfrm>
            <a:off x="657225" y="1038225"/>
            <a:ext cx="10620375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75" b="0">
                <a:solidFill>
                  <a:srgbClr val="5267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26777"/>
                </a:solidFill>
                <a:latin typeface="DejaVu Sans"/>
                <a:ea typeface="DejaVu Sans"/>
                <a:cs typeface="DejaVu Sans"/>
              </a:rPr>
              <a:t>Flexible feasible schedules at three per-room daily booking caps</a:t>
            </a:r>
          </a:p>
        </p:txBody>
      </p:sp>
      <p:graphicFrame>
        <p:nvGraphicFramePr>
          <p:cNvPr id="10" name="Table 9"/>
          <p:cNvGraphicFramePr/>
          <p:nvPr/>
        </p:nvGraphicFramePr>
        <p:xfrm>
          <a:off x="685800" y="1724025"/>
          <a:ext cx="10820400" cy="2733676"/>
        </p:xfrm>
        <a:graphic>
          <a:graphicData uri="http://schemas.openxmlformats.org/drawingml/2006/table">
            <a:tbl>
              <a:tblPr/>
              <a:tblGrid>
                <a:gridCol w="180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3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3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03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83419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Margin / cap</a:t>
                      </a:r>
                    </a:p>
                  </a:txBody>
                  <a:tcPr>
                    <a:solidFill>
                      <a:srgbClr val="10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Cases</a:t>
                      </a:r>
                    </a:p>
                  </a:txBody>
                  <a:tcPr>
                    <a:solidFill>
                      <a:srgbClr val="10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Priority 1</a:t>
                      </a:r>
                    </a:p>
                  </a:txBody>
                  <a:tcPr>
                    <a:solidFill>
                      <a:srgbClr val="10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Score</a:t>
                      </a:r>
                    </a:p>
                  </a:txBody>
                  <a:tcPr>
                    <a:solidFill>
                      <a:srgbClr val="10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Mean overtime / week</a:t>
                      </a:r>
                    </a:p>
                  </a:txBody>
                  <a:tcPr>
                    <a:solidFill>
                      <a:srgbClr val="10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Solver gap</a:t>
                      </a:r>
                    </a:p>
                  </a:txBody>
                  <a:tcPr>
                    <a:solidFill>
                      <a:srgbClr val="1028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3419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90-min margin / 390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555.9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0.22 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3419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60-min margin / 420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64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23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592.6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0.78 h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4.6%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3419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30-min margin / 450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602.0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2.16 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144B26A7-62E2-4E4E-9165-38B02D3015F6}"/>
              </a:ext>
            </a:extLst>
          </p:cNvPr>
          <p:cNvSpPr>
            <a:spLocks noGrp="1"/>
          </p:cNvSpPr>
          <p:nvPr/>
        </p:nvSpPr>
        <p:spPr>
          <a:xfrm>
            <a:off x="742950" y="4905375"/>
            <a:ext cx="10668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0">
                <a:solidFill>
                  <a:srgbClr val="172C3D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72C3D"/>
                </a:solidFill>
                <a:latin typeface="DejaVu Sans"/>
                <a:ea typeface="DejaVu Sans"/>
                <a:cs typeface="DejaVu Sans"/>
              </a:rPr>
              <a:t>The 450-minute cap schedules two more cases than the 420-minute plan, while simulated weekly overtime rises from 0.78 to 2.16 hours.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80FE557-E27C-4114-B164-53ECD87E35D5}"/>
              </a:ext>
            </a:extLst>
          </p:cNvPr>
          <p:cNvSpPr>
            <a:spLocks noGrp="1"/>
          </p:cNvSpPr>
          <p:nvPr/>
        </p:nvSpPr>
        <p:spPr>
          <a:xfrm>
            <a:off x="742950" y="5419725"/>
            <a:ext cx="10668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0">
                <a:solidFill>
                  <a:srgbClr val="172C3D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72C3D"/>
                </a:solidFill>
                <a:latin typeface="DejaVu Sans"/>
                <a:ea typeface="DejaVu Sans"/>
                <a:cs typeface="DejaVu Sans"/>
              </a:rPr>
              <a:t>These are time-limited feasible schedules. Their gaps preclude claims of an exact Pareto frontier.</a:t>
            </a:r>
          </a:p>
        </p:txBody>
      </p:sp>
    </p:spTree>
    <p:extLst>
      <p:ext uri="{BB962C8B-B14F-4D97-AF65-F5344CB8AC3E}">
        <p14:creationId xmlns:p14="http://schemas.microsoft.com/office/powerpoint/2010/main" val="4095611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5E378DC-69EA-4868-9420-5CB090F01FED}"/>
              </a:ext>
            </a:extLst>
          </p:cNvPr>
          <p:cNvSpPr>
            <a:spLocks noGrp="1"/>
          </p:cNvSpPr>
          <p:nvPr/>
        </p:nvSpPr>
        <p:spPr>
          <a:xfrm>
            <a:off x="628650" y="342900"/>
            <a:ext cx="1085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700" b="1">
                <a:solidFill>
                  <a:srgbClr val="10283A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0283A"/>
                </a:solidFill>
                <a:latin typeface="DejaVu Sans"/>
                <a:ea typeface="DejaVu Sans"/>
                <a:cs typeface="DejaVu Sans"/>
              </a:rPr>
              <a:t>Emergency capacity is a separate bottleneck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089B164-14B5-4A5A-84E0-323ED79D1A4D}"/>
              </a:ext>
            </a:extLst>
          </p:cNvPr>
          <p:cNvSpPr>
            <a:spLocks noGrp="1"/>
          </p:cNvSpPr>
          <p:nvPr/>
        </p:nvSpPr>
        <p:spPr>
          <a:xfrm>
            <a:off x="657225" y="1038225"/>
            <a:ext cx="10620375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75" b="0">
                <a:solidFill>
                  <a:srgbClr val="5267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26777"/>
                </a:solidFill>
                <a:latin typeface="DejaVu Sans"/>
                <a:ea typeface="DejaVu Sans"/>
                <a:cs typeface="DejaVu Sans"/>
              </a:rPr>
              <a:t>Illustrative single-day queue, not an evaluation of actual emergency care</a:t>
            </a:r>
          </a:p>
        </p:txBody>
      </p:sp>
      <p:graphicFrame>
        <p:nvGraphicFramePr>
          <p:cNvPr id="9" name="Table 8"/>
          <p:cNvGraphicFramePr/>
          <p:nvPr/>
        </p:nvGraphicFramePr>
        <p:xfrm>
          <a:off x="685800" y="1571625"/>
          <a:ext cx="10820400" cy="4038601"/>
        </p:xfrm>
        <a:graphic>
          <a:graphicData uri="http://schemas.openxmlformats.org/drawingml/2006/table">
            <a:tbl>
              <a:tblPr/>
              <a:tblGrid>
                <a:gridCol w="360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694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Daytime emergency simulation</a:t>
                      </a:r>
                    </a:p>
                  </a:txBody>
                  <a:tcPr>
                    <a:solidFill>
                      <a:srgbClr val="10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 reserved room</a:t>
                      </a:r>
                    </a:p>
                  </a:txBody>
                  <a:tcPr>
                    <a:solidFill>
                      <a:srgbClr val="10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 reserved rooms</a:t>
                      </a:r>
                    </a:p>
                  </a:txBody>
                  <a:tcPr>
                    <a:solidFill>
                      <a:srgbClr val="1028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943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Average arrivals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2.8 cases/day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2.8 cases/day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943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Mean procedure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130 min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130 min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6943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Mean wait to start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78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6943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90th percentile wait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237 min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37 min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6943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Cases waiting &gt; 60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6943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Elective room-hours / week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200 h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160 h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F10D6A21-C38C-4831-9FED-6D1419B9670A}"/>
              </a:ext>
            </a:extLst>
          </p:cNvPr>
          <p:cNvSpPr>
            <a:spLocks noGrp="1"/>
          </p:cNvSpPr>
          <p:nvPr/>
        </p:nvSpPr>
        <p:spPr>
          <a:xfrm>
            <a:off x="723900" y="5762625"/>
            <a:ext cx="1071562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125" b="0">
                <a:solidFill>
                  <a:srgbClr val="5267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777"/>
                </a:solidFill>
                <a:latin typeface="DejaVu Sans"/>
                <a:ea typeface="DejaVu Sans"/>
                <a:cs typeface="DejaVu Sans"/>
              </a:rPr>
              <a:t>3,000 simulated weeks; Poisson arrivals 2.8/day, uniform daytime arrival, gamma service CV 0.35, FCFS, empty daily start. No emergency triage modeled.</a:t>
            </a:r>
          </a:p>
        </p:txBody>
      </p:sp>
    </p:spTree>
    <p:extLst>
      <p:ext uri="{BB962C8B-B14F-4D97-AF65-F5344CB8AC3E}">
        <p14:creationId xmlns:p14="http://schemas.microsoft.com/office/powerpoint/2010/main" val="15677566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82D5AED-4CF7-4DFC-98CB-CF7C8A8E9DF2}"/>
              </a:ext>
            </a:extLst>
          </p:cNvPr>
          <p:cNvSpPr>
            <a:spLocks noGrp="1"/>
          </p:cNvSpPr>
          <p:nvPr/>
        </p:nvSpPr>
        <p:spPr>
          <a:xfrm>
            <a:off x="628650" y="342900"/>
            <a:ext cx="1085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700" b="1">
                <a:solidFill>
                  <a:srgbClr val="10283A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0283A"/>
                </a:solidFill>
                <a:latin typeface="DejaVu Sans"/>
                <a:ea typeface="DejaVu Sans"/>
                <a:cs typeface="DejaVu Sans"/>
              </a:rPr>
              <a:t>Methods and what they answer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00BEC3-8F85-4EAF-98FD-508CB41155D0}"/>
              </a:ext>
            </a:extLst>
          </p:cNvPr>
          <p:cNvSpPr>
            <a:spLocks noGrp="1"/>
          </p:cNvSpPr>
          <p:nvPr/>
        </p:nvSpPr>
        <p:spPr>
          <a:xfrm>
            <a:off x="657225" y="1038225"/>
            <a:ext cx="10620375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75" b="0">
                <a:solidFill>
                  <a:srgbClr val="5267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26777"/>
                </a:solidFill>
                <a:latin typeface="DejaVu Sans"/>
                <a:ea typeface="DejaVu Sans"/>
                <a:cs typeface="DejaVu Sans"/>
              </a:rPr>
              <a:t>A practical OR stack needs planning and execution models</a:t>
            </a:r>
          </a:p>
        </p:txBody>
      </p:sp>
      <p:graphicFrame>
        <p:nvGraphicFramePr>
          <p:cNvPr id="9" name="Table 8"/>
          <p:cNvGraphicFramePr/>
          <p:nvPr/>
        </p:nvGraphicFramePr>
        <p:xfrm>
          <a:off x="685800" y="1600200"/>
          <a:ext cx="10820400" cy="4162428"/>
        </p:xfrm>
        <a:graphic>
          <a:graphicData uri="http://schemas.openxmlformats.org/drawingml/2006/table">
            <a:tbl>
              <a:tblPr/>
              <a:tblGrid>
                <a:gridCol w="360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3738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Method</a:t>
                      </a:r>
                    </a:p>
                  </a:txBody>
                  <a:tcPr>
                    <a:solidFill>
                      <a:srgbClr val="10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Decision or question</a:t>
                      </a:r>
                    </a:p>
                  </a:txBody>
                  <a:tcPr>
                    <a:solidFill>
                      <a:srgbClr val="10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Current status</a:t>
                      </a:r>
                    </a:p>
                  </a:txBody>
                  <a:tcPr>
                    <a:solidFill>
                      <a:srgbClr val="1028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373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Mixed-integer programming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Which cases and specialty blocks fit within rooms, teams and bed starts?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Implemented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373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Monte Carlo simulation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How often do uncertain durations produce overtime?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Implemented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373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Queueing simulation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What daytime waiting might one versus two emergency rooms create?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Illustrative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373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Two-stage stochastic programming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How should booking decisions change under duration and emergency scenarios?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Research extension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373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Discrete-event simulation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What happens with arrival timing, triage, PACU congestion and cancellations?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Validation extension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F2D32DEB-6312-4DB6-8610-48B410257E91}"/>
              </a:ext>
            </a:extLst>
          </p:cNvPr>
          <p:cNvSpPr>
            <a:spLocks noGrp="1"/>
          </p:cNvSpPr>
          <p:nvPr/>
        </p:nvSpPr>
        <p:spPr>
          <a:xfrm>
            <a:off x="723900" y="5915025"/>
            <a:ext cx="1071562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125" b="0">
                <a:solidFill>
                  <a:srgbClr val="5267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777"/>
                </a:solidFill>
                <a:latin typeface="DejaVu Sans"/>
                <a:ea typeface="DejaVu Sans"/>
                <a:cs typeface="DejaVu Sans"/>
              </a:rPr>
              <a:t>Scheduling literature uses both deterministic and stochastic methods; see sources in the final slide.</a:t>
            </a:r>
          </a:p>
        </p:txBody>
      </p:sp>
    </p:spTree>
    <p:extLst>
      <p:ext uri="{BB962C8B-B14F-4D97-AF65-F5344CB8AC3E}">
        <p14:creationId xmlns:p14="http://schemas.microsoft.com/office/powerpoint/2010/main" val="18151086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AD27D78-4AEE-4880-9A28-1BC29CA05A71}"/>
              </a:ext>
            </a:extLst>
          </p:cNvPr>
          <p:cNvSpPr>
            <a:spLocks noGrp="1"/>
          </p:cNvSpPr>
          <p:nvPr/>
        </p:nvSpPr>
        <p:spPr>
          <a:xfrm>
            <a:off x="628650" y="342900"/>
            <a:ext cx="1085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700" b="1">
                <a:solidFill>
                  <a:srgbClr val="10283A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0283A"/>
                </a:solidFill>
                <a:latin typeface="DejaVu Sans"/>
                <a:ea typeface="DejaVu Sans"/>
                <a:cs typeface="DejaVu Sans"/>
              </a:rPr>
              <a:t>Data required for a real deployment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051D463-1637-4AEF-8A85-E2A239C45F23}"/>
              </a:ext>
            </a:extLst>
          </p:cNvPr>
          <p:cNvSpPr>
            <a:spLocks noGrp="1"/>
          </p:cNvSpPr>
          <p:nvPr/>
        </p:nvSpPr>
        <p:spPr>
          <a:xfrm>
            <a:off x="657225" y="1038225"/>
            <a:ext cx="10620375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75" b="0">
                <a:solidFill>
                  <a:srgbClr val="5267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26777"/>
                </a:solidFill>
                <a:latin typeface="DejaVu Sans"/>
                <a:ea typeface="DejaVu Sans"/>
                <a:cs typeface="DejaVu Sans"/>
              </a:rPr>
              <a:t>Historical validation comes before any scheduling recommendation to clinicians</a:t>
            </a:r>
          </a:p>
        </p:txBody>
      </p:sp>
      <p:graphicFrame>
        <p:nvGraphicFramePr>
          <p:cNvPr id="9" name="Table 8"/>
          <p:cNvGraphicFramePr/>
          <p:nvPr/>
        </p:nvGraphicFramePr>
        <p:xfrm>
          <a:off x="685800" y="1533525"/>
          <a:ext cx="10820400" cy="4143378"/>
        </p:xfrm>
        <a:graphic>
          <a:graphicData uri="http://schemas.openxmlformats.org/drawingml/2006/table">
            <a:tbl>
              <a:tblPr/>
              <a:tblGrid>
                <a:gridCol w="360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0563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Source system</a:t>
                      </a:r>
                    </a:p>
                  </a:txBody>
                  <a:tcPr>
                    <a:solidFill>
                      <a:srgbClr val="10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Minimum fields</a:t>
                      </a:r>
                    </a:p>
                  </a:txBody>
                  <a:tcPr>
                    <a:solidFill>
                      <a:srgbClr val="10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Validation question</a:t>
                      </a:r>
                    </a:p>
                  </a:txBody>
                  <a:tcPr>
                    <a:solidFill>
                      <a:srgbClr val="1028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0563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Surgery wait list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Procedure, urgency, referral date, readiness, surgeon, constraints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Are priority bands and delays accurate?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0563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Theatre log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Wheels-in/out, incision, cleanup, cancellations, emergency insertions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Are duration and turnover distributions calibrated?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0563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Rosters and assets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Team shifts, theatre equipment, maintenance, on-call cover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Are modeled assignments feasible?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0563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Bed / PACU flow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Recovery arrival/departure, ward admissions, occupancy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Is downstream flow the true bottleneck?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0563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Audit / governance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Reasons for overrides and displaced cases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Does access remain acceptable by group?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355E9CE2-C7A0-4188-9385-E3CC6B8A3630}"/>
              </a:ext>
            </a:extLst>
          </p:cNvPr>
          <p:cNvSpPr>
            <a:spLocks noGrp="1"/>
          </p:cNvSpPr>
          <p:nvPr/>
        </p:nvSpPr>
        <p:spPr>
          <a:xfrm>
            <a:off x="723900" y="5867400"/>
            <a:ext cx="1071562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125" b="0">
                <a:solidFill>
                  <a:srgbClr val="5267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777"/>
                </a:solidFill>
                <a:latin typeface="DejaVu Sans"/>
                <a:ea typeface="DejaVu Sans"/>
                <a:cs typeface="DejaVu Sans"/>
              </a:rPr>
              <a:t>De-identify patient records and obtain hospital approval for data access and evaluation.</a:t>
            </a:r>
          </a:p>
        </p:txBody>
      </p:sp>
    </p:spTree>
    <p:extLst>
      <p:ext uri="{BB962C8B-B14F-4D97-AF65-F5344CB8AC3E}">
        <p14:creationId xmlns:p14="http://schemas.microsoft.com/office/powerpoint/2010/main" val="18834679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BD5B31-B452-449B-96F4-B56D4E8B9A2B}"/>
              </a:ext>
            </a:extLst>
          </p:cNvPr>
          <p:cNvSpPr>
            <a:spLocks noGrp="1"/>
          </p:cNvSpPr>
          <p:nvPr/>
        </p:nvSpPr>
        <p:spPr>
          <a:xfrm>
            <a:off x="628650" y="342900"/>
            <a:ext cx="1085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700" b="1">
                <a:solidFill>
                  <a:srgbClr val="10283A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0283A"/>
                </a:solidFill>
                <a:latin typeface="DejaVu Sans"/>
                <a:ea typeface="DejaVu Sans"/>
                <a:cs typeface="DejaVu Sans"/>
              </a:rPr>
              <a:t>What this case supports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5EADFC-BACA-447E-84CE-C844F2335874}"/>
              </a:ext>
            </a:extLst>
          </p:cNvPr>
          <p:cNvSpPr>
            <a:spLocks noGrp="1"/>
          </p:cNvSpPr>
          <p:nvPr/>
        </p:nvSpPr>
        <p:spPr>
          <a:xfrm>
            <a:off x="657225" y="1038225"/>
            <a:ext cx="10620375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75" b="0">
                <a:solidFill>
                  <a:srgbClr val="5267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26777"/>
                </a:solidFill>
                <a:latin typeface="DejaVu Sans"/>
                <a:ea typeface="DejaVu Sans"/>
                <a:cs typeface="DejaVu Sans"/>
              </a:rPr>
              <a:t>Interpret the numerical findings within the modeled conditions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87D5AF-4D33-42F8-8E74-117B3BAE5008}"/>
              </a:ext>
            </a:extLst>
          </p:cNvPr>
          <p:cNvSpPr>
            <a:spLocks noGrp="1"/>
          </p:cNvSpPr>
          <p:nvPr/>
        </p:nvSpPr>
        <p:spPr>
          <a:xfrm>
            <a:off x="742950" y="1457325"/>
            <a:ext cx="10668000" cy="1047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650" b="0">
                <a:solidFill>
                  <a:srgbClr val="172C3D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72C3D"/>
                </a:solidFill>
                <a:latin typeface="DejaVu Sans"/>
                <a:ea typeface="DejaVu Sans"/>
                <a:cs typeface="DejaVu Sans"/>
              </a:rPr>
              <a:t>Flexible blocks produced a feasible 64-case plan with all 23 priority-1 cases and four more priority-2 cases than the fixed-block comparator.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78948A-97CC-48EE-B756-B26FFB7B78EC}"/>
              </a:ext>
            </a:extLst>
          </p:cNvPr>
          <p:cNvSpPr>
            <a:spLocks noGrp="1"/>
          </p:cNvSpPr>
          <p:nvPr/>
        </p:nvSpPr>
        <p:spPr>
          <a:xfrm>
            <a:off x="742950" y="2562225"/>
            <a:ext cx="10668000" cy="1047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650" b="0">
                <a:solidFill>
                  <a:srgbClr val="172C3D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72C3D"/>
                </a:solidFill>
                <a:latin typeface="DejaVu Sans"/>
                <a:ea typeface="DejaVu Sans"/>
                <a:cs typeface="DejaVu Sans"/>
              </a:rPr>
              <a:t>The expected elective overtime fell from 1.12 to 0.78 hours per week in the chosen duration model.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8406572-F068-4047-A34F-7C74D99D17A2}"/>
              </a:ext>
            </a:extLst>
          </p:cNvPr>
          <p:cNvSpPr>
            <a:spLocks noGrp="1"/>
          </p:cNvSpPr>
          <p:nvPr/>
        </p:nvSpPr>
        <p:spPr>
          <a:xfrm>
            <a:off x="742950" y="3667125"/>
            <a:ext cx="10668000" cy="1047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650" b="0">
                <a:solidFill>
                  <a:srgbClr val="172C3D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72C3D"/>
                </a:solidFill>
                <a:latin typeface="DejaVu Sans"/>
                <a:ea typeface="DejaVu Sans"/>
                <a:cs typeface="DejaVu Sans"/>
              </a:rPr>
              <a:t>Emergency queueing can dominate the access decision. The one-room reserve requires local arrival and triage evidence.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C00DCA4-2D1C-428E-AF71-4EB83ABAF0A0}"/>
              </a:ext>
            </a:extLst>
          </p:cNvPr>
          <p:cNvSpPr>
            <a:spLocks noGrp="1"/>
          </p:cNvSpPr>
          <p:nvPr/>
        </p:nvSpPr>
        <p:spPr>
          <a:xfrm>
            <a:off x="742950" y="4772025"/>
            <a:ext cx="10668000" cy="1047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650" b="0">
                <a:solidFill>
                  <a:srgbClr val="172C3D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72C3D"/>
                </a:solidFill>
                <a:latin typeface="DejaVu Sans"/>
                <a:ea typeface="DejaVu Sans"/>
                <a:cs typeface="DejaVu Sans"/>
              </a:rPr>
              <a:t>Case-level sequencing, simultaneous staffing, emergency preemption and actual patient outcomes remain outside this pilot model.</a:t>
            </a:r>
          </a:p>
        </p:txBody>
      </p:sp>
    </p:spTree>
    <p:extLst>
      <p:ext uri="{BB962C8B-B14F-4D97-AF65-F5344CB8AC3E}">
        <p14:creationId xmlns:p14="http://schemas.microsoft.com/office/powerpoint/2010/main" val="5337628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54E9C11-FBD2-4EAD-BA12-B3F9042C81F2}"/>
              </a:ext>
            </a:extLst>
          </p:cNvPr>
          <p:cNvSpPr>
            <a:spLocks noGrp="1"/>
          </p:cNvSpPr>
          <p:nvPr/>
        </p:nvSpPr>
        <p:spPr>
          <a:xfrm>
            <a:off x="628650" y="342900"/>
            <a:ext cx="1085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700" b="1">
                <a:solidFill>
                  <a:srgbClr val="10283A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0283A"/>
                </a:solidFill>
                <a:latin typeface="DejaVu Sans"/>
                <a:ea typeface="DejaVu Sans"/>
                <a:cs typeface="DejaVu Sans"/>
              </a:rPr>
              <a:t>Reproduction and model limitations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2084227-D915-47BC-9A2A-5E5812C5CD0B}"/>
              </a:ext>
            </a:extLst>
          </p:cNvPr>
          <p:cNvSpPr>
            <a:spLocks noGrp="1"/>
          </p:cNvSpPr>
          <p:nvPr/>
        </p:nvSpPr>
        <p:spPr>
          <a:xfrm>
            <a:off x="657225" y="1038225"/>
            <a:ext cx="10620375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75" b="0">
                <a:solidFill>
                  <a:srgbClr val="5267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26777"/>
                </a:solidFill>
                <a:latin typeface="DejaVu Sans"/>
                <a:ea typeface="DejaVu Sans"/>
                <a:cs typeface="DejaVu Sans"/>
              </a:rPr>
              <a:t>Transparent numerical recipe for a follow-on study</a:t>
            </a:r>
          </a:p>
        </p:txBody>
      </p:sp>
      <p:graphicFrame>
        <p:nvGraphicFramePr>
          <p:cNvPr id="9" name="Table 8"/>
          <p:cNvGraphicFramePr/>
          <p:nvPr/>
        </p:nvGraphicFramePr>
        <p:xfrm>
          <a:off x="685800" y="1590675"/>
          <a:ext cx="10820400" cy="4029074"/>
        </p:xfrm>
        <a:graphic>
          <a:graphicData uri="http://schemas.openxmlformats.org/drawingml/2006/table">
            <a:tbl>
              <a:tblPr/>
              <a:tblGrid>
                <a:gridCol w="541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1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5582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Component</a:t>
                      </a:r>
                    </a:p>
                  </a:txBody>
                  <a:tcPr>
                    <a:solidFill>
                      <a:srgbClr val="10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Specification</a:t>
                      </a:r>
                    </a:p>
                  </a:txBody>
                  <a:tcPr>
                    <a:solidFill>
                      <a:srgbClr val="1028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58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Synthetic queue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90 cases; RNG seed 314159; six specialties; release days 1–3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558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Elective MILP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SciPy HiGHS MILP; binary assignment and specialty-session variables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558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Benchmark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Same objective and constraints, fixed specialty template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558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Duration test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3,000 shared-replication gamma samples, seed 442; CV 0.25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558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Emergency queue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3,000 weeks, seed 98211; Poisson 2.8 cases/day; service 130 min mean, CV 0.35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558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Scope limit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C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No surgeon-level timing, PACU overlap, cancellation decisions or real DMCH data</a:t>
                      </a:r>
                    </a:p>
                  </a:txBody>
                  <a:tcPr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9EAAD165-3D89-4368-819E-5CCB3ED63401}"/>
              </a:ext>
            </a:extLst>
          </p:cNvPr>
          <p:cNvSpPr>
            <a:spLocks noGrp="1"/>
          </p:cNvSpPr>
          <p:nvPr/>
        </p:nvSpPr>
        <p:spPr>
          <a:xfrm>
            <a:off x="723900" y="5791200"/>
            <a:ext cx="1071562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125" b="0">
                <a:solidFill>
                  <a:srgbClr val="5267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777"/>
                </a:solidFill>
                <a:latin typeface="DejaVu Sans"/>
                <a:ea typeface="DejaVu Sans"/>
                <a:cs typeface="DejaVu Sans"/>
              </a:rPr>
              <a:t>Numbers are deterministic given the generators; time-limited MILP incumbents can vary with solver version or runtime.</a:t>
            </a:r>
          </a:p>
        </p:txBody>
      </p:sp>
    </p:spTree>
    <p:extLst>
      <p:ext uri="{BB962C8B-B14F-4D97-AF65-F5344CB8AC3E}">
        <p14:creationId xmlns:p14="http://schemas.microsoft.com/office/powerpoint/2010/main" val="19102925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7314E64-00AF-48C6-BEEC-04C2736AA8A4}"/>
              </a:ext>
            </a:extLst>
          </p:cNvPr>
          <p:cNvSpPr>
            <a:spLocks noGrp="1"/>
          </p:cNvSpPr>
          <p:nvPr/>
        </p:nvSpPr>
        <p:spPr>
          <a:xfrm>
            <a:off x="628650" y="342900"/>
            <a:ext cx="1085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700" b="1">
                <a:solidFill>
                  <a:srgbClr val="10283A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0283A"/>
                </a:solidFill>
                <a:latin typeface="DejaVu Sans"/>
                <a:ea typeface="DejaVu Sans"/>
                <a:cs typeface="DejaVu Sans"/>
              </a:rPr>
              <a:t>Sources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59B31C1-E4A9-42F8-BFD1-4F8F839CE422}"/>
              </a:ext>
            </a:extLst>
          </p:cNvPr>
          <p:cNvSpPr>
            <a:spLocks noGrp="1"/>
          </p:cNvSpPr>
          <p:nvPr/>
        </p:nvSpPr>
        <p:spPr>
          <a:xfrm>
            <a:off x="657225" y="1038225"/>
            <a:ext cx="10620375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75" b="0">
                <a:solidFill>
                  <a:srgbClr val="5267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26777"/>
                </a:solidFill>
                <a:latin typeface="DejaVu Sans"/>
                <a:ea typeface="DejaVu Sans"/>
                <a:cs typeface="DejaVu Sans"/>
              </a:rPr>
              <a:t>Hospital context and operations research foundations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AB1B3F-61EE-4561-99FC-DE35882ABB31}"/>
              </a:ext>
            </a:extLst>
          </p:cNvPr>
          <p:cNvSpPr>
            <a:spLocks noGrp="1"/>
          </p:cNvSpPr>
          <p:nvPr/>
        </p:nvSpPr>
        <p:spPr>
          <a:xfrm>
            <a:off x="742950" y="1371600"/>
            <a:ext cx="1066800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172C3D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2C3D"/>
                </a:solidFill>
                <a:latin typeface="DejaVu Sans"/>
                <a:ea typeface="DejaVu Sans"/>
                <a:cs typeface="DejaVu Sans"/>
              </a:rPr>
              <a:t>Dhaka Medical College Hospital. “Dhaka Medical College Hospital” (official description).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1CBB49-2B63-4ED7-A0E8-215AD663E720}"/>
              </a:ext>
            </a:extLst>
          </p:cNvPr>
          <p:cNvSpPr>
            <a:spLocks noGrp="1"/>
          </p:cNvSpPr>
          <p:nvPr/>
        </p:nvSpPr>
        <p:spPr>
          <a:xfrm>
            <a:off x="742950" y="2305050"/>
            <a:ext cx="1066800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172C3D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2C3D"/>
                </a:solidFill>
                <a:latin typeface="DejaVu Sans"/>
                <a:ea typeface="DejaVu Sans"/>
                <a:cs typeface="DejaVu Sans"/>
              </a:rPr>
              <a:t>Denton et al. (2010). “Optimal Allocation of Surgery Blocks to Operating Rooms Under Uncertainty.” Operations Research.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19D17E-AF9D-445D-9CBC-C458DA00F075}"/>
              </a:ext>
            </a:extLst>
          </p:cNvPr>
          <p:cNvSpPr>
            <a:spLocks noGrp="1"/>
          </p:cNvSpPr>
          <p:nvPr/>
        </p:nvSpPr>
        <p:spPr>
          <a:xfrm>
            <a:off x="742950" y="3238500"/>
            <a:ext cx="1066800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172C3D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2C3D"/>
                </a:solidFill>
                <a:latin typeface="DejaVu Sans"/>
                <a:ea typeface="DejaVu Sans"/>
                <a:cs typeface="DejaVu Sans"/>
              </a:rPr>
              <a:t>Lamiri et al. (2008). “A stochastic model for operating room planning with elective and emergency demand.” EJOR.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321DC34-2190-4C91-901F-FB3B131E17CA}"/>
              </a:ext>
            </a:extLst>
          </p:cNvPr>
          <p:cNvSpPr>
            <a:spLocks noGrp="1"/>
          </p:cNvSpPr>
          <p:nvPr/>
        </p:nvSpPr>
        <p:spPr>
          <a:xfrm>
            <a:off x="723900" y="4171950"/>
            <a:ext cx="1066800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172C3D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 dirty="0" err="1">
                <a:solidFill>
                  <a:srgbClr val="172C3D"/>
                </a:solidFill>
                <a:latin typeface="DejaVu Sans"/>
                <a:ea typeface="DejaVu Sans"/>
                <a:cs typeface="DejaVu Sans"/>
              </a:rPr>
              <a:t>Korolko</a:t>
            </a:r>
            <a:r>
              <a:rPr sz="1350" b="0" dirty="0">
                <a:solidFill>
                  <a:srgbClr val="172C3D"/>
                </a:solidFill>
                <a:latin typeface="DejaVu Sans"/>
                <a:ea typeface="DejaVu Sans"/>
                <a:cs typeface="DejaVu Sans"/>
              </a:rPr>
              <a:t>. </a:t>
            </a:r>
            <a:r>
              <a:rPr sz="1350" b="0" dirty="0" err="1">
                <a:solidFill>
                  <a:srgbClr val="172C3D"/>
                </a:solidFill>
                <a:latin typeface="DejaVu Sans"/>
                <a:ea typeface="DejaVu Sans"/>
                <a:cs typeface="DejaVu Sans"/>
              </a:rPr>
              <a:t>Operating_Room_Scheduling</a:t>
            </a:r>
            <a:r>
              <a:rPr sz="1350" b="0" dirty="0">
                <a:solidFill>
                  <a:srgbClr val="172C3D"/>
                </a:solidFill>
                <a:latin typeface="DejaVu Sans"/>
                <a:ea typeface="DejaVu Sans"/>
                <a:cs typeface="DejaVu Sans"/>
              </a:rPr>
              <a:t> GitHub example, MIT Analytics Edge recitation. Conceptual inspiration only.</a:t>
            </a:r>
          </a:p>
        </p:txBody>
      </p:sp>
    </p:spTree>
    <p:extLst>
      <p:ext uri="{BB962C8B-B14F-4D97-AF65-F5344CB8AC3E}">
        <p14:creationId xmlns:p14="http://schemas.microsoft.com/office/powerpoint/2010/main" val="20428026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2597</Words>
  <Application>Microsoft Office PowerPoint</Application>
  <DocSecurity>0</DocSecurity>
  <PresentationFormat>Widescreen</PresentationFormat>
  <Paragraphs>647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Aptos</vt:lpstr>
      <vt:lpstr>DejaVu Sans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0424082030 - Mostafizur Rahman Khan</cp:lastModifiedBy>
  <cp:revision>1</cp:revision>
  <dcterms:created xsi:type="dcterms:W3CDTF">2026-09-27T11:13:02Z</dcterms:created>
  <dcterms:modified xsi:type="dcterms:W3CDTF">2026-10-02T22:36:12Z</dcterms:modified>
</cp:coreProperties>
</file>